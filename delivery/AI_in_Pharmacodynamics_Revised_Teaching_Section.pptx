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800" lang="en-US">
                <a:solidFill>
                  <a:srgbClr val="20252B"/>
                </a:solidFill>
                <a:latin typeface="Arial"/>
              </a:rPr>
              <a:t>Connect to prior target classes without reteaching the pharmacology chapters. These are published predictions, not calculations made for this lesson.
Source: Abramson et al., Nature 630, 493–500 (2024).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800" lang="en-US">
                <a:solidFill>
                  <a:srgbClr val="20252B"/>
                </a:solidFill>
                <a:latin typeface="Arial"/>
              </a:rPr>
              <a:t>
Source: Teaching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800" lang="en-US">
                <a:solidFill>
                  <a:srgbClr val="20252B"/>
                </a:solidFill>
                <a:latin typeface="Arial"/>
              </a:rPr>
              <a:t>
Sources: https://www.nature.com/articles/s41586-024-07487-w ; https://prankweb.cz/ ; https://github.com/gnina/gnina ; https://github.com/jwohlwend/boltz/blob/main/docs/prediction.md ; https://chemprop.readthedocs.io/ ; https://doi.org/10.1186/s13321-024-00812-5 . Tools differ in training needs, licensing and setup.
Source: Official documentation and original tool papers; details in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800" lang="en-US">
                <a:solidFill>
                  <a:srgbClr val="20252B"/>
                </a:solidFill>
                <a:latin typeface="Arial"/>
              </a:rPr>
              <a:t>Input-evidence panel from the published workflow. Explain genes, proteins and disease associations, not the model architecture.
Source: Ren et al., Nat. Biotechnol. 43, 63–75 (2025; online 2024).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800" lang="en-US">
                <a:solidFill>
                  <a:srgbClr val="20252B"/>
                </a:solidFill>
                <a:latin typeface="Arial"/>
              </a:rPr>
              <a:t>Sildenafil was not discovered by the AI methods taught here. This experimental reference is specific to the stated enzyme project.
Source: RCSB PDB 1UDT.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800" lang="en-US">
                <a:solidFill>
                  <a:srgbClr val="20252B"/>
                </a:solidFill>
                <a:latin typeface="Arial"/>
              </a:rPr>
              <a:t>Published Figure 3. Blue/green: predicted proteins; orange: predicted ligands/glycans; purple: predicted RNA; grey: experimental comparison. Explain selected examples, not numerical structure metrics.
Source: Abramson et al., Nature 630, 493–500 (2024).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800" lang="en-US">
                <a:solidFill>
                  <a:srgbClr val="20252B"/>
                </a:solidFill>
                <a:latin typeface="Arial"/>
              </a:rPr>
              <a:t>The panel concerns DGAT2 and predicted pocket features. P2Rank/PrankWeb proposes binding regions, not affinity or cellular efficacy.
Source: Tunyasuvunakool et al., Nature 596, 590–596 (2021); P2Rank.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800" lang="en-US">
                <a:solidFill>
                  <a:srgbClr val="20252B"/>
                </a:solidFill>
                <a:latin typeface="Arial"/>
              </a:rPr>
              <a:t>Inactive blue; active wheat/orange. The overlay is a comparison of experimental states, not a computed transition or thermodynamic ensemble.
Source: RCSB PDB 2RH1 and 3SN6; Rasmussen et al., Nature 477, 549–555 (2011).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800" lang="en-US">
                <a:solidFill>
                  <a:srgbClr val="20252B"/>
                </a:solidFill>
                <a:latin typeface="Arial"/>
              </a:rPr>
              <a:t>The input form is a teaching example. No numerical affinity or activity is assigned.
Source: Original chemical illustration; molecular identity checked computationally.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800" lang="en-US">
                <a:solidFill>
                  <a:srgbClr val="20252B"/>
                </a:solidFill>
                <a:latin typeface="Arial"/>
              </a:rPr>
              <a:t>This defined kinase–inhibitor complex explains what a pose is and what redocking would try to recover. Conventional sampling and AI scoring are different operations.
Source: McNutt et al., J. Cheminform. 17, 28 (2025). RCSB PDB 1M17.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800" lang="en-US">
                <a:solidFill>
                  <a:srgbClr val="20252B"/>
                </a:solidFill>
                <a:latin typeface="Arial"/>
              </a:rPr>
              <a:t>The experimental statin complex is used as a chemically specific reference for inspecting model predictions. The drug is not described as AI-discovered.
Source: Istvan &amp; Deisenhofer, Science 292, 1160–1164 (2001); PDB 1HWL.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800" lang="en-US">
                <a:solidFill>
                  <a:srgbClr val="20252B"/>
                </a:solidFill>
                <a:latin typeface="Arial"/>
              </a:rPr>
              <a:t>The AF3 paper includes this allosteric-site example. This new rendering uses experimental coordinates; it is not the published AF3 prediction.
Source: Abramson et al., Nature 630, 493–500 (2024). RCSB PDB 7QIE.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800" lang="en-US">
                <a:solidFill>
                  <a:srgbClr val="20252B"/>
                </a:solidFill>
                <a:latin typeface="Arial"/>
              </a:rPr>
              <a:t>Do not teach logarithmic score conversion. Do not rename predicted activity as experimental Kd. Model setup and its documented applicability matter.
Source: Boltz-2 original paper and official prediction documentation (2025).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800" lang="en-US">
                <a:solidFill>
                  <a:srgbClr val="20252B"/>
                </a:solidFill>
                <a:latin typeface="Arial"/>
              </a:rPr>
              <a:t>Helix 12 is highlighted. Raloxifene is a selective oestrogen receptor modulator with tissue-dependent effects, not a universal antagonist.
Source: Brzozowski et al., Nature 389, 753–758 (1997); PDB 1ERE/1ERR.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800" lang="en-US">
                <a:solidFill>
                  <a:srgbClr val="20252B"/>
                </a:solidFill>
                <a:latin typeface="Arial"/>
              </a:rPr>
              <a:t>PBP4 is a cell-wall-remodelling DD-peptidase, not the bifunctional PBP1b. GNINA covalent docking requires the bound form; it does not predict the reaction. Its CNN was not trained on covalent complexes.
Source: Kishida et al., Biochemistry 45, 783–792 (2006). McNutt et al., J. Cheminform. 17, 28 (2025).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800" lang="en-US">
                <a:solidFill>
                  <a:srgbClr val="20252B"/>
                </a:solidFill>
                <a:latin typeface="Arial"/>
              </a:rPr>
              <a:t>hERG is a potassium channel. A blocker prediction is not a probability of clinical arrhythmia. No architecture or threshold calculations are needed.
Source: Tran-Nguyen et al., J. Cheminform. 17, 110 (2025); PDB 5VA1.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800" lang="en-US">
                <a:solidFill>
                  <a:srgbClr val="20252B"/>
                </a:solidFill>
                <a:latin typeface="Arial"/>
              </a:rPr>
              <a:t>The structures are distinct synthetic teaching candidates, not compounds from a claimed experiment.
Source: McNutt et al., J. Cheminform. 17, 28 (2025).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800" lang="en-US">
                <a:solidFill>
                  <a:srgbClr val="20252B"/>
                </a:solidFill>
                <a:latin typeface="Arial"/>
              </a:rPr>
              <a:t>Only an input–output explanation is needed. Chemprop needs relevant data or a suitable existing model; it is not universally pretrained for every target.
Source: Heid et al., J. Chem. Inf. Model. 64, 9–17 (2024).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800" lang="en-US">
                <a:solidFill>
                  <a:srgbClr val="20252B"/>
                </a:solidFill>
                <a:latin typeface="Arial"/>
              </a:rPr>
              <a:t>This is a documented molecular-recognition example, not a new AI prediction or a general rule about methylation.
Source: Zimmermann et al., Nat. Struct. Biol. 4, 644–649 (1997).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800" lang="en-US">
                <a:solidFill>
                  <a:srgbClr val="20252B"/>
                </a:solidFill>
                <a:latin typeface="Arial"/>
              </a:rPr>
              <a:t>The specific aptamer illustrates RNA recognition; SMRTnet studied theophylline-related discrimination. This rendering is experimental reference geometry, not a model output.
Source: Fei et al., Nat. Biotechnol. (2026), doi:10.1038/s41587-025-02942-z. PDB 1EHT.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800" lang="en-US">
                <a:solidFill>
                  <a:srgbClr val="20252B"/>
                </a:solidFill>
                <a:latin typeface="Arial"/>
              </a:rPr>
              <a:t>Original Figure 4. Explain the chemical changes and fixed starting information; omit neural architectures and optimization equations.
Source: Loeffler et al., J. Cheminform. 16, 20 (2024).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800" lang="en-US">
                <a:solidFill>
                  <a:srgbClr val="20252B"/>
                </a:solidFill>
                <a:latin typeface="Arial"/>
              </a:rPr>
              <a:t>Some multi-target effects are useful. Selectivity is not sufficient to establish clinical safety.
Source: Hopkins, Nat. Chem. Biol. 4, 682–690 (2008).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800" lang="en-US">
                <a:solidFill>
                  <a:srgbClr val="20252B"/>
                </a:solidFill>
                <a:latin typeface="Arial"/>
              </a:rPr>
              <a:t>This extends the previous nucleic-acid course to model choice. No universal AI DNA-affinity tool or sequence selectivity is claimed.
Source: RCSB PDB 1D12; drug–nucleic-acid recognition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800" lang="en-US">
                <a:solidFill>
                  <a:srgbClr val="20252B"/>
                </a:solidFill>
                <a:latin typeface="Arial"/>
              </a:rPr>
              <a:t>Figure 2 does not provide the direct SPR binding evidence. The SPR experiment is Extended Data Figure 3a. The displayed data concern TNIK enzymatic inhibition and cellular functional readouts.
Source: Ren et al., Nat. Biotechnol. 43, 63–75 (2025; online 2024).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800" lang="en-US">
                <a:solidFill>
                  <a:srgbClr val="20252B"/>
                </a:solidFill>
                <a:latin typeface="Arial"/>
              </a:rPr>
              <a:t>Do not describe a fluorescence image as a direct binding assay or infer an unstated cell identity. Cell Painting and image segmentation are not equivalent to target identification.
Source: Chandrasekaran et al., Nat. Methods 21, 1114–1121 (2024).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800" lang="en-US">
                <a:solidFill>
                  <a:srgbClr val="20252B"/>
                </a:solidFill>
                <a:latin typeface="Arial"/>
              </a:rPr>
              <a:t>Transcriptomic and morphological profiles are complementary sources, not mandatory sequential stages. Distinguish shared stress from shared target action.
Source: Chandrasekaran et al., Nat. Methods 21, 1114–1121 (2024).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800" lang="en-US">
                <a:solidFill>
                  <a:srgbClr val="20252B"/>
                </a:solidFill>
                <a:latin typeface="Arial"/>
              </a:rPr>
              <a:t>Do not introduce acquisition functions or claim that synthesis and biological validation have been automated in this teaching example.
Source: Loeffler et al., J. Cheminform. 16, 20 (2024).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800" lang="en-US">
                <a:solidFill>
                  <a:srgbClr val="20252B"/>
                </a:solidFill>
                <a:latin typeface="Arial"/>
              </a:rPr>
              <a:t>The approximately eighteen-month milestone was preclinical candidate nomination, not first-in-human testing. It is not a controlled estimate of the time saved by AI.
Source: Ren et al., Nat. Biotechnol. 43, 63–75 (2025; online 2024).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800" lang="en-US">
                <a:solidFill>
                  <a:srgbClr val="20252B"/>
                </a:solidFill>
                <a:latin typeface="Arial"/>
              </a:rPr>
              <a:t>Broader kinase activity prevents attributing every cellular effect exclusively to TNIK. A predicted pose is not an experimental co-crystal. No clinical approval is claimed.
Source: Ren et al., Nat. Biotechnol. 43, 63–75 (2025; online 2024).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800" lang="en-US">
                <a:solidFill>
                  <a:srgbClr val="20252B"/>
                </a:solidFill>
                <a:latin typeface="Arial"/>
              </a:rPr>
              <a:t>Do not teach VAE, genetic-algorithm or graph-network details. Large computational candidate pools are not experimentally tested compounds.
Source: Krishnan et al., Cell 188, 5962–5979.e22 (2025).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800" lang="en-US">
                <a:solidFill>
                  <a:srgbClr val="20252B"/>
                </a:solidFill>
                <a:latin typeface="Arial"/>
              </a:rPr>
              <a:t>NG1 was investigated against Neisseria gonorrhoeae and DN1 against Staphylococcus aureus. Mechanistic follow-up is not direct proof of a resolved drug–target complex.
Source: Krishnan et al., Cell 188, 5962–5979.e22 (2025).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800" lang="en-US">
                <a:solidFill>
                  <a:srgbClr val="20252B"/>
                </a:solidFill>
                <a:latin typeface="Arial"/>
              </a:rPr>
              <a:t>The pictured structure is explicitly experimental follow-up. AI predicted the receptor; the screened molecules were not generated by AlphaFold2.
Source: Lyu et al., Science 384, eadn6354 (2024).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800" lang="en-US">
                <a:solidFill>
                  <a:srgbClr val="20252B"/>
                </a:solidFill>
                <a:latin typeface="Arial"/>
              </a:rPr>
              <a:t>The model-based sigma-2 campaign found 64 hits among 119 tested compounds. The roughly 54% versus 51% difference was not significant. Do not claim superiority.
Source: Lyu et al., Science 384, eadn6354 (2024).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800" lang="en-US">
                <a:solidFill>
                  <a:srgbClr val="20252B"/>
                </a:solidFill>
                <a:latin typeface="Arial"/>
              </a:rPr>
              <a:t>The source’s real chemical substructures replace unrelated teaching molecules. Explain a rationale as a model-associated chemical clue, not a proven biological mechanism.
Source: Wong et al., Nature 626, 177–185 (2024).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800" lang="en-US">
                <a:solidFill>
                  <a:srgbClr val="20252B"/>
                </a:solidFill>
                <a:latin typeface="Arial"/>
              </a:rPr>
              <a:t>No claim that all 283 were active. Selected subgroup comparisons were not randomized tests of the value of explainability. Explain the named animal readout simply.
Source: Wong et al., Nature 626, 177–185 (2024).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800" lang="en-US">
                <a:solidFill>
                  <a:srgbClr val="20252B"/>
                </a:solidFill>
                <a:latin typeface="Arial"/>
              </a:rPr>
              <a:t>The illustration is explicitly hypothetical. Do not invent measured benchmark results or attribute a synthetic geometry error to a specific software package.
Source: Buttenschoen et al., Chem. Sci. 15, 3130–3139 (2024).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800" lang="en-US">
                <a:solidFill>
                  <a:srgbClr val="20252B"/>
                </a:solidFill>
                <a:latin typeface="Arial"/>
              </a:rPr>
              <a:t>The 7/20 and 2/20 counts are invented. They illustrate the denominator and do not establish statistical significance.
Source: Teaching comparison; no claimed performance for a named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800" lang="en-US">
                <a:solidFill>
                  <a:srgbClr val="20252B"/>
                </a:solidFill>
                <a:latin typeface="Arial"/>
              </a:rPr>
              <a:t>A suitable docking/scoring workflow can propose poses; a kinase assay tests inhibition. Discuss receptor conformation and target selectivity. Lapatinib is not presented as AI-discovered.
Source: Wood et al., Cancer Res. 64, 6652–6659 (2004); PDB 1XKK.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800" lang="en-US">
                <a:solidFill>
                  <a:srgbClr val="20252B"/>
                </a:solidFill>
                <a:latin typeface="Arial"/>
              </a:rPr>
              <a:t>Count interactions, not necessarily unique compounds. Binding validation does not alone establish cellular specificity, causality or therapeutic benefit. Ask for a functional experiment and a specificity control.
Source: Fei et al., Nat. Biotechnol. (2026), doi:10.1038/s41587-025-02942-z.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800" lang="en-US">
                <a:solidFill>
                  <a:srgbClr val="20252B"/>
                </a:solidFill>
                <a:latin typeface="Arial"/>
              </a:rPr>
              <a:t>Close the link to enzymes, GPCRs, nuclear receptors, ion channels and nucleic acids. Students should name the question, model output and matching experiment.
Source: Summary of the cited research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native_30_tnik_fig2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47472" y="210312"/>
            <a:ext cx="844905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2400" lang="en-US" b="1">
                <a:solidFill>
                  <a:srgbClr val="C00000"/>
                </a:solidFill>
                <a:latin typeface="Arial"/>
              </a:rPr>
              <a:t>From Target Chemistry to AI-Assisted PD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393192" y="914400"/>
            <a:ext cx="8339328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Use what you know about target structure and chemical recognition.</a:t>
            </a:r>
          </a:p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Ask how AI helps choose molecules and the experiments that test them.</a:t>
            </a:r>
          </a:p>
        </p:txBody>
      </p:sp>
      <p:pic>
        <p:nvPicPr>
          <p:cNvPr id="4" name="FIGURE:af3_intro" descr="af3_i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" y="2886661"/>
            <a:ext cx="8339328" cy="1935071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393192" y="5925312"/>
            <a:ext cx="8302752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600" lang="en-US">
                <a:solidFill>
                  <a:srgbClr val="20252B"/>
                </a:solidFill>
                <a:latin typeface="Arial"/>
              </a:rPr>
              <a:t>Published AF3 complexes: different molecules require different recognition models.</a:t>
            </a:r>
          </a:p>
        </p:txBody>
      </p:sp>
      <p:sp>
        <p:nvSpPr>
          <p:cNvPr id="6" name="reference"/>
          <p:cNvSpPr txBox="1"/>
          <p:nvPr/>
        </p:nvSpPr>
        <p:spPr>
          <a:xfrm>
            <a:off x="393192" y="6455664"/>
            <a:ext cx="798271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200" lang="en-US">
                <a:solidFill>
                  <a:srgbClr val="20252B"/>
                </a:solidFill>
                <a:latin typeface="Arial"/>
              </a:rPr>
              <a:t>Abramson et al., Nature 630, 493–500 (2024).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8458200" y="6510528"/>
            <a:ext cx="329184" cy="210312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0252B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47472" y="210312"/>
            <a:ext cx="844905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2400" lang="en-US" b="1">
                <a:solidFill>
                  <a:srgbClr val="C00000"/>
                </a:solidFill>
                <a:latin typeface="Arial"/>
              </a:rPr>
              <a:t>Follow a Drug–Target Research Question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384048" y="914400"/>
            <a:ext cx="8339327" cy="8412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Define the interaction or effect before choosing a tool.</a:t>
            </a:r>
          </a:p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Move from a target to a testable chemical decision.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45920"/>
            <a:ext cx="2286000" cy="585216"/>
          </a:xfrm>
          <a:prstGeom prst="roundRect">
            <a:avLst/>
          </a:prstGeom>
          <a:solidFill>
            <a:srgbClr val="E5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"/>
          <p:cNvSpPr txBox="1"/>
          <p:nvPr/>
        </p:nvSpPr>
        <p:spPr>
          <a:xfrm>
            <a:off x="667512" y="1737360"/>
            <a:ext cx="2139696" cy="438912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800" b="0">
                <a:solidFill>
                  <a:srgbClr val="20252B"/>
                </a:solidFill>
                <a:latin typeface="Arial"/>
              </a:rPr>
              <a:t>Target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3337560" y="1764792"/>
            <a:ext cx="5029200" cy="457200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800" b="0">
                <a:solidFill>
                  <a:srgbClr val="20252B"/>
                </a:solidFill>
                <a:latin typeface="Arial"/>
              </a:rPr>
              <a:t>What biological question?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627632" y="2221992"/>
            <a:ext cx="457200" cy="274320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800" b="0">
                <a:solidFill>
                  <a:srgbClr val="20252B"/>
                </a:solidFill>
                <a:latin typeface="Arial"/>
              </a:rPr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414016"/>
            <a:ext cx="2286000" cy="585216"/>
          </a:xfrm>
          <a:prstGeom prst="roundRect">
            <a:avLst/>
          </a:prstGeom>
          <a:solidFill>
            <a:srgbClr val="E5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"/>
          <p:cNvSpPr txBox="1"/>
          <p:nvPr/>
        </p:nvSpPr>
        <p:spPr>
          <a:xfrm>
            <a:off x="667512" y="2505456"/>
            <a:ext cx="2139696" cy="438912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800" b="0">
                <a:solidFill>
                  <a:srgbClr val="20252B"/>
                </a:solidFill>
                <a:latin typeface="Arial"/>
              </a:rPr>
              <a:t>Structure / pocket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3337560" y="2532888"/>
            <a:ext cx="5029200" cy="457200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800" b="0">
                <a:solidFill>
                  <a:srgbClr val="20252B"/>
                </a:solidFill>
                <a:latin typeface="Arial"/>
              </a:rPr>
              <a:t>Where could it bind?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1627632" y="2990088"/>
            <a:ext cx="457200" cy="274320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800" b="0">
                <a:solidFill>
                  <a:srgbClr val="20252B"/>
                </a:solidFill>
                <a:latin typeface="Arial"/>
              </a:rP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182112"/>
            <a:ext cx="2286000" cy="585216"/>
          </a:xfrm>
          <a:prstGeom prst="roundRect">
            <a:avLst/>
          </a:prstGeom>
          <a:solidFill>
            <a:srgbClr val="E5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"/>
          <p:cNvSpPr txBox="1"/>
          <p:nvPr/>
        </p:nvSpPr>
        <p:spPr>
          <a:xfrm>
            <a:off x="667512" y="3273552"/>
            <a:ext cx="2139696" cy="438912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800" b="0">
                <a:solidFill>
                  <a:srgbClr val="20252B"/>
                </a:solidFill>
                <a:latin typeface="Arial"/>
              </a:rPr>
              <a:t>Candidate molecules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3337560" y="3300984"/>
            <a:ext cx="5029200" cy="457200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800" b="0">
                <a:solidFill>
                  <a:srgbClr val="20252B"/>
                </a:solidFill>
                <a:latin typeface="Arial"/>
              </a:rPr>
              <a:t>What should be tested?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1627632" y="3758184"/>
            <a:ext cx="457200" cy="274320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800" b="0">
                <a:solidFill>
                  <a:srgbClr val="20252B"/>
                </a:solidFill>
                <a:latin typeface="Arial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950208"/>
            <a:ext cx="2286000" cy="585216"/>
          </a:xfrm>
          <a:prstGeom prst="roundRect">
            <a:avLst/>
          </a:prstGeom>
          <a:solidFill>
            <a:srgbClr val="E5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"/>
          <p:cNvSpPr txBox="1"/>
          <p:nvPr/>
        </p:nvSpPr>
        <p:spPr>
          <a:xfrm>
            <a:off x="667512" y="4041648"/>
            <a:ext cx="2139696" cy="438912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800" b="0">
                <a:solidFill>
                  <a:srgbClr val="20252B"/>
                </a:solidFill>
                <a:latin typeface="Arial"/>
              </a:rPr>
              <a:t>Experiments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3337560" y="4069080"/>
            <a:ext cx="5029200" cy="457200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800" b="0">
                <a:solidFill>
                  <a:srgbClr val="20252B"/>
                </a:solidFill>
                <a:latin typeface="Arial"/>
              </a:rPr>
              <a:t>Binding and function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1627632" y="4526280"/>
            <a:ext cx="457200" cy="274320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800" b="0">
                <a:solidFill>
                  <a:srgbClr val="20252B"/>
                </a:solidFill>
                <a:latin typeface="Arial"/>
              </a:rP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718304"/>
            <a:ext cx="2286000" cy="585216"/>
          </a:xfrm>
          <a:prstGeom prst="roundRect">
            <a:avLst/>
          </a:prstGeom>
          <a:solidFill>
            <a:srgbClr val="E5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"/>
          <p:cNvSpPr txBox="1"/>
          <p:nvPr/>
        </p:nvSpPr>
        <p:spPr>
          <a:xfrm>
            <a:off x="667512" y="4809744"/>
            <a:ext cx="2139696" cy="438912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800" b="0">
                <a:solidFill>
                  <a:srgbClr val="20252B"/>
                </a:solidFill>
                <a:latin typeface="Arial"/>
              </a:rPr>
              <a:t>Next choice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3337560" y="4837176"/>
            <a:ext cx="5029200" cy="457200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800" b="0">
                <a:solidFill>
                  <a:srgbClr val="20252B"/>
                </a:solidFill>
                <a:latin typeface="Arial"/>
              </a:rPr>
              <a:t>Use the new evidence</a:t>
            </a:r>
          </a:p>
        </p:txBody>
      </p:sp>
      <p:sp>
        <p:nvSpPr>
          <p:cNvPr id="23" name="caption"/>
          <p:cNvSpPr txBox="1"/>
          <p:nvPr/>
        </p:nvSpPr>
        <p:spPr>
          <a:xfrm>
            <a:off x="393192" y="5925312"/>
            <a:ext cx="8302752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600" lang="en-US">
                <a:solidFill>
                  <a:srgbClr val="20252B"/>
                </a:solidFill>
                <a:latin typeface="Arial"/>
              </a:rPr>
              <a:t>Target → structure → candidates → experiments → next decision.</a:t>
            </a:r>
          </a:p>
        </p:txBody>
      </p:sp>
      <p:sp>
        <p:nvSpPr>
          <p:cNvPr id="24" name="reference"/>
          <p:cNvSpPr txBox="1"/>
          <p:nvPr/>
        </p:nvSpPr>
        <p:spPr>
          <a:xfrm>
            <a:off x="393192" y="6455664"/>
            <a:ext cx="798271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200" lang="en-US">
                <a:solidFill>
                  <a:srgbClr val="20252B"/>
                </a:solidFill>
                <a:latin typeface="Arial"/>
              </a:rPr>
              <a:t>Teaching workflow.</a:t>
            </a:r>
          </a:p>
        </p:txBody>
      </p:sp>
      <p:sp>
        <p:nvSpPr>
          <p:cNvPr id="25" name="page_number"/>
          <p:cNvSpPr txBox="1"/>
          <p:nvPr/>
        </p:nvSpPr>
        <p:spPr>
          <a:xfrm>
            <a:off x="8458200" y="6510528"/>
            <a:ext cx="329184" cy="210312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0252B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47472" y="210312"/>
            <a:ext cx="844905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2400" lang="en-US" b="1">
                <a:solidFill>
                  <a:srgbClr val="C00000"/>
                </a:solidFill>
                <a:latin typeface="Arial"/>
              </a:rPr>
              <a:t>AI Tools for Pharmacodynamic Research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384048" y="914400"/>
            <a:ext cx="8339327" cy="8412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Choose by the question, the available data and the meaning of the output.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536192"/>
          <a:ext cx="841248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4992"/>
                <a:gridCol w="2194560"/>
                <a:gridCol w="2852928"/>
              </a:tblGrid>
              <a:tr h="607422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0252B"/>
                          </a:solidFill>
                          <a:latin typeface="Arial"/>
                        </a:rPr>
                        <a:t>Research question</a:t>
                      </a:r>
                    </a:p>
                  </a:txBody>
                  <a:tcPr marL="109728" marR="73152" marT="91440" marB="36576" anchor="ctr">
                    <a:solidFill>
                      <a:srgbClr val="E0EB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0252B"/>
                          </a:solidFill>
                          <a:latin typeface="Arial"/>
                        </a:rPr>
                        <a:t>Example tool</a:t>
                      </a:r>
                    </a:p>
                  </a:txBody>
                  <a:tcPr marL="109728" marR="73152" marT="91440" marB="36576" anchor="ctr">
                    <a:solidFill>
                      <a:srgbClr val="E0EB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0252B"/>
                          </a:solidFill>
                          <a:latin typeface="Arial"/>
                        </a:rPr>
                        <a:t>Typical result</a:t>
                      </a:r>
                    </a:p>
                  </a:txBody>
                  <a:tcPr marL="109728" marR="73152" marT="91440" marB="36576" anchor="ctr">
                    <a:solidFill>
                      <a:srgbClr val="E0EBEF"/>
                    </a:solidFill>
                  </a:tcPr>
                </a:tc>
              </a:tr>
              <a:tr h="60742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52B"/>
                          </a:solidFill>
                          <a:latin typeface="Arial"/>
                        </a:rPr>
                        <a:t>What could the complex look like?</a:t>
                      </a:r>
                    </a:p>
                  </a:txBody>
                  <a:tcPr marL="109728" marR="73152" marT="9144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52B"/>
                          </a:solidFill>
                          <a:latin typeface="Arial"/>
                        </a:rPr>
                        <a:t>AlphaFold 3</a:t>
                      </a:r>
                    </a:p>
                  </a:txBody>
                  <a:tcPr marL="109728" marR="73152" marT="9144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52B"/>
                          </a:solidFill>
                          <a:latin typeface="Arial"/>
                        </a:rPr>
                        <a:t>Predicted 3D arrangement</a:t>
                      </a:r>
                    </a:p>
                  </a:txBody>
                  <a:tcPr marL="109728" marR="73152" marT="91440" marB="36576" anchor="ctr">
                    <a:solidFill>
                      <a:srgbClr val="FFFFFF"/>
                    </a:solidFill>
                  </a:tcPr>
                </a:tc>
              </a:tr>
              <a:tr h="60742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52B"/>
                          </a:solidFill>
                          <a:latin typeface="Arial"/>
                        </a:rPr>
                        <a:t>Where might a ligand bind?</a:t>
                      </a:r>
                    </a:p>
                  </a:txBody>
                  <a:tcPr marL="109728" marR="73152" marT="91440" marB="36576" anchor="ctr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52B"/>
                          </a:solidFill>
                          <a:latin typeface="Arial"/>
                        </a:rPr>
                        <a:t>P2Rank / PrankWeb</a:t>
                      </a:r>
                    </a:p>
                  </a:txBody>
                  <a:tcPr marL="109728" marR="73152" marT="91440" marB="36576" anchor="ctr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52B"/>
                          </a:solidFill>
                          <a:latin typeface="Arial"/>
                        </a:rPr>
                        <a:t>Candidate binding pockets</a:t>
                      </a:r>
                    </a:p>
                  </a:txBody>
                  <a:tcPr marL="109728" marR="73152" marT="91440" marB="36576" anchor="ctr">
                    <a:solidFill>
                      <a:srgbClr val="F3F6F7"/>
                    </a:solidFill>
                  </a:tcPr>
                </a:tc>
              </a:tr>
              <a:tr h="60742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52B"/>
                          </a:solidFill>
                          <a:latin typeface="Arial"/>
                        </a:rPr>
                        <a:t>How might a ligand fit?</a:t>
                      </a:r>
                    </a:p>
                  </a:txBody>
                  <a:tcPr marL="109728" marR="73152" marT="9144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52B"/>
                          </a:solidFill>
                          <a:latin typeface="Arial"/>
                        </a:rPr>
                        <a:t>GNINA</a:t>
                      </a:r>
                    </a:p>
                  </a:txBody>
                  <a:tcPr marL="109728" marR="73152" marT="9144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52B"/>
                          </a:solidFill>
                          <a:latin typeface="Arial"/>
                        </a:rPr>
                        <a:t>Docked poses and scores</a:t>
                      </a:r>
                    </a:p>
                  </a:txBody>
                  <a:tcPr marL="109728" marR="73152" marT="91440" marB="36576" anchor="ctr">
                    <a:solidFill>
                      <a:srgbClr val="FFFFFF"/>
                    </a:solidFill>
                  </a:tcPr>
                </a:tc>
              </a:tr>
              <a:tr h="60742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52B"/>
                          </a:solidFill>
                          <a:latin typeface="Arial"/>
                        </a:rPr>
                        <a:t>Which pairs look promising?</a:t>
                      </a:r>
                    </a:p>
                  </a:txBody>
                  <a:tcPr marL="109728" marR="73152" marT="91440" marB="36576" anchor="ctr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52B"/>
                          </a:solidFill>
                          <a:latin typeface="Arial"/>
                        </a:rPr>
                        <a:t>Boltz-2</a:t>
                      </a:r>
                    </a:p>
                  </a:txBody>
                  <a:tcPr marL="109728" marR="73152" marT="91440" marB="36576" anchor="ctr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52B"/>
                          </a:solidFill>
                          <a:latin typeface="Arial"/>
                        </a:rPr>
                        <a:t>Structure and binding outputs</a:t>
                      </a:r>
                    </a:p>
                  </a:txBody>
                  <a:tcPr marL="109728" marR="73152" marT="91440" marB="36576" anchor="ctr">
                    <a:solidFill>
                      <a:srgbClr val="F3F6F7"/>
                    </a:solidFill>
                  </a:tcPr>
                </a:tc>
              </a:tr>
              <a:tr h="60742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52B"/>
                          </a:solidFill>
                          <a:latin typeface="Arial"/>
                        </a:rPr>
                        <a:t>Which analogue may be active?</a:t>
                      </a:r>
                    </a:p>
                  </a:txBody>
                  <a:tcPr marL="109728" marR="73152" marT="9144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52B"/>
                          </a:solidFill>
                          <a:latin typeface="Arial"/>
                        </a:rPr>
                        <a:t>Chemprop</a:t>
                      </a:r>
                    </a:p>
                  </a:txBody>
                  <a:tcPr marL="109728" marR="73152" marT="9144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52B"/>
                          </a:solidFill>
                          <a:latin typeface="Arial"/>
                        </a:rPr>
                        <a:t>Assay-trained predictions</a:t>
                      </a:r>
                    </a:p>
                  </a:txBody>
                  <a:tcPr marL="109728" marR="73152" marT="91440" marB="36576" anchor="ctr">
                    <a:solidFill>
                      <a:srgbClr val="FFFFFF"/>
                    </a:solidFill>
                  </a:tcPr>
                </a:tc>
              </a:tr>
              <a:tr h="6074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52B"/>
                          </a:solidFill>
                          <a:latin typeface="Arial"/>
                        </a:rPr>
                        <a:t>What could we make next?</a:t>
                      </a:r>
                    </a:p>
                  </a:txBody>
                  <a:tcPr marL="109728" marR="73152" marT="91440" marB="36576" anchor="ctr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52B"/>
                          </a:solidFill>
                          <a:latin typeface="Arial"/>
                        </a:rPr>
                        <a:t>REINVENT 4</a:t>
                      </a:r>
                    </a:p>
                  </a:txBody>
                  <a:tcPr marL="109728" marR="73152" marT="91440" marB="36576" anchor="ctr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52B"/>
                          </a:solidFill>
                          <a:latin typeface="Arial"/>
                        </a:rPr>
                        <a:t>Candidate chemical structures</a:t>
                      </a:r>
                    </a:p>
                  </a:txBody>
                  <a:tcPr marL="109728" marR="73152" marT="91440" marB="36576" anchor="ctr">
                    <a:solidFill>
                      <a:srgbClr val="F3F6F7"/>
                    </a:solidFill>
                  </a:tcPr>
                </a:tc>
              </a:tr>
            </a:tbl>
          </a:graphicData>
        </a:graphic>
      </p:graphicFrame>
      <p:sp>
        <p:nvSpPr>
          <p:cNvPr id="5" name="caption"/>
          <p:cNvSpPr txBox="1"/>
          <p:nvPr/>
        </p:nvSpPr>
        <p:spPr>
          <a:xfrm>
            <a:off x="393192" y="5925312"/>
            <a:ext cx="8302752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600" lang="en-US">
                <a:solidFill>
                  <a:srgbClr val="20252B"/>
                </a:solidFill>
                <a:latin typeface="Arial"/>
              </a:rPr>
              <a:t>Examples of useful research tools—not a popularity or performance ranking.</a:t>
            </a:r>
          </a:p>
        </p:txBody>
      </p:sp>
      <p:sp>
        <p:nvSpPr>
          <p:cNvPr id="6" name="reference"/>
          <p:cNvSpPr txBox="1"/>
          <p:nvPr/>
        </p:nvSpPr>
        <p:spPr>
          <a:xfrm>
            <a:off x="393192" y="6455664"/>
            <a:ext cx="798271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200" lang="en-US">
                <a:solidFill>
                  <a:srgbClr val="20252B"/>
                </a:solidFill>
                <a:latin typeface="Arial"/>
              </a:rPr>
              <a:t>Official documentation and original tool papers; details in notes.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8458200" y="6510528"/>
            <a:ext cx="329184" cy="210312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0252B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47472" y="210312"/>
            <a:ext cx="844905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2400" lang="en-US" b="1">
                <a:solidFill>
                  <a:srgbClr val="C00000"/>
                </a:solidFill>
                <a:latin typeface="Arial"/>
              </a:rPr>
              <a:t>Use Disease Evidence to Prioritize Targets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393192" y="914400"/>
            <a:ext cx="8339328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Combine disease-related measurements with established biological knowledge.</a:t>
            </a:r>
          </a:p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AI ranking proposes a target; it does not validate the target.</a:t>
            </a:r>
          </a:p>
        </p:txBody>
      </p:sp>
      <p:pic>
        <p:nvPicPr>
          <p:cNvPr id="4" name="FIGURE:tnik_evidence" descr="tnik_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727" y="1901952"/>
            <a:ext cx="5214546" cy="3904488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393192" y="5925312"/>
            <a:ext cx="8302752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600" lang="en-US">
                <a:solidFill>
                  <a:srgbClr val="20252B"/>
                </a:solidFill>
                <a:latin typeface="Arial"/>
              </a:rPr>
              <a:t>TNIK study: biological evidence used in target prioritization.</a:t>
            </a:r>
          </a:p>
        </p:txBody>
      </p:sp>
      <p:sp>
        <p:nvSpPr>
          <p:cNvPr id="6" name="reference"/>
          <p:cNvSpPr txBox="1"/>
          <p:nvPr/>
        </p:nvSpPr>
        <p:spPr>
          <a:xfrm>
            <a:off x="393192" y="6455664"/>
            <a:ext cx="798271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200" lang="en-US">
                <a:solidFill>
                  <a:srgbClr val="20252B"/>
                </a:solidFill>
                <a:latin typeface="Arial"/>
              </a:rPr>
              <a:t>Ren et al., Nat. Biotechnol. 43, 63–75 (2025; online 2024).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8458200" y="6510528"/>
            <a:ext cx="329184" cy="210312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0252B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47472" y="210312"/>
            <a:ext cx="844905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2400" lang="en-US" b="1">
                <a:solidFill>
                  <a:srgbClr val="C00000"/>
                </a:solidFill>
                <a:latin typeface="Arial"/>
              </a:rPr>
              <a:t>Enzymes: Start from a Real Binding Complex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393192" y="914400"/>
            <a:ext cx="8339328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Sildenafil–PDE5 provides a known inhibitor and a defined pocket.</a:t>
            </a:r>
          </a:p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Use that reference to prepare an AI-assisted screening question.</a:t>
            </a:r>
          </a:p>
        </p:txBody>
      </p:sp>
      <p:pic>
        <p:nvPicPr>
          <p:cNvPr id="4" name="FIGURE:pde5_sildenafil" descr="pde5_sildenafil.png"/>
          <p:cNvPicPr>
            <a:picLocks noChangeAspect="1"/>
          </p:cNvPicPr>
          <p:nvPr/>
        </p:nvPicPr>
        <p:blipFill>
          <a:blip r:embed="rId2"/>
          <a:srcRect l="0" t="0" r="28917" b="0"/>
          <a:stretch>
            <a:fillRect/>
          </a:stretch>
        </p:blipFill>
        <p:spPr>
          <a:xfrm>
            <a:off x="2351658" y="1901952"/>
            <a:ext cx="4440684" cy="3904488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393192" y="5925312"/>
            <a:ext cx="8302752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600" lang="en-US">
                <a:solidFill>
                  <a:srgbClr val="20252B"/>
                </a:solidFill>
                <a:latin typeface="Arial"/>
              </a:rPr>
              <a:t>Experimental sildenafil–PDE5 structure, PDB 1UDT.</a:t>
            </a:r>
          </a:p>
        </p:txBody>
      </p:sp>
      <p:sp>
        <p:nvSpPr>
          <p:cNvPr id="6" name="reference"/>
          <p:cNvSpPr txBox="1"/>
          <p:nvPr/>
        </p:nvSpPr>
        <p:spPr>
          <a:xfrm>
            <a:off x="393192" y="6455664"/>
            <a:ext cx="798271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200" lang="en-US">
                <a:solidFill>
                  <a:srgbClr val="20252B"/>
                </a:solidFill>
                <a:latin typeface="Arial"/>
              </a:rPr>
              <a:t>RCSB PDB 1UDT.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8458200" y="6510528"/>
            <a:ext cx="329184" cy="210312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0252B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47472" y="210312"/>
            <a:ext cx="844905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2400" lang="en-US" b="1">
                <a:solidFill>
                  <a:srgbClr val="C00000"/>
                </a:solidFill>
                <a:latin typeface="Arial"/>
              </a:rPr>
              <a:t>Predict a Complex When a Structure Is Missing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393192" y="914400"/>
            <a:ext cx="8339328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Provide the identities of the interacting molecules.</a:t>
            </a:r>
          </a:p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Use predicted geometry as a starting hypothesis—not measured activity.</a:t>
            </a:r>
          </a:p>
        </p:txBody>
      </p:sp>
      <p:pic>
        <p:nvPicPr>
          <p:cNvPr id="4" name="FIGURE:af3_fig3" descr="af3_fi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435" y="1901952"/>
            <a:ext cx="7073130" cy="3904488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393192" y="5925312"/>
            <a:ext cx="8302752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600" lang="en-US">
                <a:solidFill>
                  <a:srgbClr val="20252B"/>
                </a:solidFill>
                <a:latin typeface="Arial"/>
              </a:rPr>
              <a:t>AF3 examples include protein–RNA, antibody and small-molecule complexes.</a:t>
            </a:r>
          </a:p>
        </p:txBody>
      </p:sp>
      <p:sp>
        <p:nvSpPr>
          <p:cNvPr id="6" name="reference"/>
          <p:cNvSpPr txBox="1"/>
          <p:nvPr/>
        </p:nvSpPr>
        <p:spPr>
          <a:xfrm>
            <a:off x="393192" y="6455664"/>
            <a:ext cx="798271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200" lang="en-US">
                <a:solidFill>
                  <a:srgbClr val="20252B"/>
                </a:solidFill>
                <a:latin typeface="Arial"/>
              </a:rPr>
              <a:t>Abramson et al., Nature 630, 493–500 (2024).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8458200" y="6510528"/>
            <a:ext cx="329184" cy="210312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0252B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47472" y="210312"/>
            <a:ext cx="844905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2400" lang="en-US" b="1">
                <a:solidFill>
                  <a:srgbClr val="C00000"/>
                </a:solidFill>
                <a:latin typeface="Arial"/>
              </a:rPr>
              <a:t>Find Candidate Pockets with P2Rank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393192" y="914400"/>
            <a:ext cx="8339328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A pocket predictor highlights regions that may bind a ligand.</a:t>
            </a:r>
          </a:p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Known chemistry and experiments help decide which site matters.</a:t>
            </a:r>
          </a:p>
        </p:txBody>
      </p:sp>
      <p:pic>
        <p:nvPicPr>
          <p:cNvPr id="4" name="FIGURE:dgat2_pocket" descr="dgat2_poc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886" y="1901952"/>
            <a:ext cx="5256229" cy="3904488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393192" y="5925312"/>
            <a:ext cx="8302752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600" lang="en-US">
                <a:solidFill>
                  <a:srgbClr val="20252B"/>
                </a:solidFill>
                <a:latin typeface="Arial"/>
              </a:rPr>
              <a:t>Published DGAT2 pocket illustration; a candidate region is not a confirmed drug site.</a:t>
            </a:r>
          </a:p>
        </p:txBody>
      </p:sp>
      <p:sp>
        <p:nvSpPr>
          <p:cNvPr id="6" name="reference"/>
          <p:cNvSpPr txBox="1"/>
          <p:nvPr/>
        </p:nvSpPr>
        <p:spPr>
          <a:xfrm>
            <a:off x="393192" y="6455664"/>
            <a:ext cx="798271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200" lang="en-US">
                <a:solidFill>
                  <a:srgbClr val="20252B"/>
                </a:solidFill>
                <a:latin typeface="Arial"/>
              </a:rPr>
              <a:t>Tunyasuvunakool et al., Nature 596, 590–596 (2021); P2Rank.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8458200" y="6510528"/>
            <a:ext cx="329184" cy="210312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0252B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47472" y="210312"/>
            <a:ext cx="844905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2400" lang="en-US" b="1">
                <a:solidFill>
                  <a:srgbClr val="C00000"/>
                </a:solidFill>
                <a:latin typeface="Arial"/>
              </a:rPr>
              <a:t>GPCRs: Choose the Relevant Receptor State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393192" y="914400"/>
            <a:ext cx="8339328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Active and inactive receptors present different binding environments.</a:t>
            </a:r>
          </a:p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Choose the state relevant to the prediction and functional assay.</a:t>
            </a:r>
          </a:p>
        </p:txBody>
      </p:sp>
      <p:pic>
        <p:nvPicPr>
          <p:cNvPr id="4" name="FIGURE:gpcr_states" descr="gpcr_states.png"/>
          <p:cNvPicPr>
            <a:picLocks noChangeAspect="1"/>
          </p:cNvPicPr>
          <p:nvPr/>
        </p:nvPicPr>
        <p:blipFill>
          <a:blip r:embed="rId2"/>
          <a:srcRect l="5375" t="0" r="5958" b="20333"/>
          <a:stretch>
            <a:fillRect/>
          </a:stretch>
        </p:blipFill>
        <p:spPr>
          <a:xfrm>
            <a:off x="1095537" y="1901952"/>
            <a:ext cx="6952926" cy="3904488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393192" y="5925312"/>
            <a:ext cx="8302752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600" lang="en-US">
                <a:solidFill>
                  <a:srgbClr val="20252B"/>
                </a:solidFill>
                <a:latin typeface="Arial"/>
              </a:rPr>
              <a:t>β₂-adrenoceptor: inactive and active experimental structures; TM6 highlighted.</a:t>
            </a:r>
          </a:p>
        </p:txBody>
      </p:sp>
      <p:sp>
        <p:nvSpPr>
          <p:cNvPr id="6" name="reference"/>
          <p:cNvSpPr txBox="1"/>
          <p:nvPr/>
        </p:nvSpPr>
        <p:spPr>
          <a:xfrm>
            <a:off x="393192" y="6455664"/>
            <a:ext cx="798271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200" lang="en-US">
                <a:solidFill>
                  <a:srgbClr val="20252B"/>
                </a:solidFill>
                <a:latin typeface="Arial"/>
              </a:rPr>
              <a:t>RCSB PDB 2RH1 and 3SN6; Rasmussen et al., Nature 477, 549–555 (2011).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8458200" y="6510528"/>
            <a:ext cx="329184" cy="210312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0252B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47472" y="210312"/>
            <a:ext cx="844905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2400" lang="en-US" b="1">
                <a:solidFill>
                  <a:srgbClr val="C00000"/>
                </a:solidFill>
                <a:latin typeface="Arial"/>
              </a:rPr>
              <a:t>Give the Tool the Correct Chemical Structure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393192" y="914400"/>
            <a:ext cx="8339328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Keep connectivity, charge and stereochemistry explicit.</a:t>
            </a:r>
          </a:p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Adrenaline illustrates why those chemical details cannot be ignored.</a:t>
            </a:r>
          </a:p>
        </p:txBody>
      </p:sp>
      <p:pic>
        <p:nvPicPr>
          <p:cNvPr id="4" name="FIGURE:adrenaline_input" descr="adrenaline_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542" y="1901952"/>
            <a:ext cx="7320915" cy="3904488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393192" y="5925312"/>
            <a:ext cx="8302752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600" lang="en-US">
                <a:solidFill>
                  <a:srgbClr val="20252B"/>
                </a:solidFill>
                <a:latin typeface="Arial"/>
              </a:rPr>
              <a:t>R-adrenaline shown with a protonated secondary amine.</a:t>
            </a:r>
          </a:p>
        </p:txBody>
      </p:sp>
      <p:sp>
        <p:nvSpPr>
          <p:cNvPr id="6" name="reference"/>
          <p:cNvSpPr txBox="1"/>
          <p:nvPr/>
        </p:nvSpPr>
        <p:spPr>
          <a:xfrm>
            <a:off x="393192" y="6455664"/>
            <a:ext cx="798271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200" lang="en-US">
                <a:solidFill>
                  <a:srgbClr val="20252B"/>
                </a:solidFill>
                <a:latin typeface="Arial"/>
              </a:rPr>
              <a:t>Original chemical illustration; molecular identity checked computationally.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8458200" y="6510528"/>
            <a:ext cx="329184" cy="210312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0252B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47472" y="210312"/>
            <a:ext cx="844905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2400" lang="en-US" b="1">
                <a:solidFill>
                  <a:srgbClr val="C00000"/>
                </a:solidFill>
                <a:latin typeface="Arial"/>
              </a:rPr>
              <a:t>Docking: Propose and Test a Binding Pose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393192" y="914400"/>
            <a:ext cx="8339328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GNINA can rank proposed ligand arrangements with learned scoring.</a:t>
            </a:r>
          </a:p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Use this experimental EGFR complex as a reference—not a new prediction.</a:t>
            </a:r>
          </a:p>
        </p:txBody>
      </p:sp>
      <p:pic>
        <p:nvPicPr>
          <p:cNvPr id="4" name="FIGURE:egfr_erlotinib" descr="egfr_erlotinib.png"/>
          <p:cNvPicPr>
            <a:picLocks noChangeAspect="1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>
            <a:off x="1448410" y="1901952"/>
            <a:ext cx="6247181" cy="3904488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393192" y="5925312"/>
            <a:ext cx="8302752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600" lang="en-US">
                <a:solidFill>
                  <a:srgbClr val="20252B"/>
                </a:solidFill>
                <a:latin typeface="Arial"/>
              </a:rPr>
              <a:t>Experimental erlotinib–EGFR reference, PDB 1M17; not a new GNINA result.</a:t>
            </a:r>
          </a:p>
        </p:txBody>
      </p:sp>
      <p:sp>
        <p:nvSpPr>
          <p:cNvPr id="6" name="reference"/>
          <p:cNvSpPr txBox="1"/>
          <p:nvPr/>
        </p:nvSpPr>
        <p:spPr>
          <a:xfrm>
            <a:off x="393192" y="6455664"/>
            <a:ext cx="798271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200" lang="en-US">
                <a:solidFill>
                  <a:srgbClr val="20252B"/>
                </a:solidFill>
                <a:latin typeface="Arial"/>
              </a:rPr>
              <a:t>McNutt et al., J. Cheminform. 17, 28 (2025). RCSB PDB 1M17.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8458200" y="6510528"/>
            <a:ext cx="329184" cy="210312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0252B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47472" y="210312"/>
            <a:ext cx="844905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2400" lang="en-US" b="1">
                <a:solidFill>
                  <a:srgbClr val="C00000"/>
                </a:solidFill>
                <a:latin typeface="Arial"/>
              </a:rPr>
              <a:t>Use Chemical Contacts to Inspect a Prediction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393192" y="914400"/>
            <a:ext cx="8339328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Check whether polar and nonpolar groups face suitable regions.</a:t>
            </a:r>
          </a:p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A plausible contact pattern is not a measurement of binding strength.</a:t>
            </a:r>
          </a:p>
        </p:txBody>
      </p:sp>
      <p:pic>
        <p:nvPicPr>
          <p:cNvPr id="4" name="FIGURE:hmgr_rosuvastatin" descr="hmgr_rosuvastatin.png"/>
          <p:cNvPicPr>
            <a:picLocks noChangeAspect="1"/>
          </p:cNvPicPr>
          <p:nvPr/>
        </p:nvPicPr>
        <p:blipFill>
          <a:blip r:embed="rId2"/>
          <a:srcRect l="2625" t="0" r="3917" b="0"/>
          <a:stretch>
            <a:fillRect/>
          </a:stretch>
        </p:blipFill>
        <p:spPr>
          <a:xfrm>
            <a:off x="1652755" y="1901952"/>
            <a:ext cx="5838490" cy="3904488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393192" y="5925312"/>
            <a:ext cx="8302752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600" lang="en-US">
                <a:solidFill>
                  <a:srgbClr val="20252B"/>
                </a:solidFill>
                <a:latin typeface="Arial"/>
              </a:rPr>
              <a:t>Rosuvastatin in the experimental HMG-CoA reductase complex, PDB 1HWL.</a:t>
            </a:r>
          </a:p>
        </p:txBody>
      </p:sp>
      <p:sp>
        <p:nvSpPr>
          <p:cNvPr id="6" name="reference"/>
          <p:cNvSpPr txBox="1"/>
          <p:nvPr/>
        </p:nvSpPr>
        <p:spPr>
          <a:xfrm>
            <a:off x="393192" y="6455664"/>
            <a:ext cx="798271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200" lang="en-US">
                <a:solidFill>
                  <a:srgbClr val="20252B"/>
                </a:solidFill>
                <a:latin typeface="Arial"/>
              </a:rPr>
              <a:t>Istvan &amp; Deisenhofer, Science 292, 1160–1164 (2001); PDB 1HWL.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8458200" y="6510528"/>
            <a:ext cx="329184" cy="210312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0252B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47472" y="210312"/>
            <a:ext cx="844905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2400" lang="en-US" b="1">
                <a:solidFill>
                  <a:srgbClr val="C00000"/>
                </a:solidFill>
                <a:latin typeface="Arial"/>
              </a:rPr>
              <a:t>Search Beyond the Usual Active Site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393192" y="914400"/>
            <a:ext cx="8339328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An allosteric ligand can act at a different pocket.</a:t>
            </a:r>
          </a:p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Specify the intended site when predicting or scoring binding.</a:t>
            </a:r>
          </a:p>
        </p:txBody>
      </p:sp>
      <p:pic>
        <p:nvPicPr>
          <p:cNvPr id="4" name="FIGURE:allosteric_pocket" descr="allosteric_pocket.png"/>
          <p:cNvPicPr>
            <a:picLocks noChangeAspect="1"/>
          </p:cNvPicPr>
          <p:nvPr/>
        </p:nvPicPr>
        <p:blipFill>
          <a:blip r:embed="rId2"/>
          <a:srcRect l="18625" t="19067" r="18208" b="14800"/>
          <a:stretch>
            <a:fillRect/>
          </a:stretch>
        </p:blipFill>
        <p:spPr>
          <a:xfrm>
            <a:off x="1588500" y="1901952"/>
            <a:ext cx="5967001" cy="3904488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393192" y="5925312"/>
            <a:ext cx="8302752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600" lang="en-US">
                <a:solidFill>
                  <a:srgbClr val="20252B"/>
                </a:solidFill>
                <a:latin typeface="Arial"/>
              </a:rPr>
              <a:t>Experimental allosteric inhibitor complex of PI5P4Kγ, PDB 7QIE.</a:t>
            </a:r>
          </a:p>
        </p:txBody>
      </p:sp>
      <p:sp>
        <p:nvSpPr>
          <p:cNvPr id="6" name="reference"/>
          <p:cNvSpPr txBox="1"/>
          <p:nvPr/>
        </p:nvSpPr>
        <p:spPr>
          <a:xfrm>
            <a:off x="393192" y="6455664"/>
            <a:ext cx="798271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200" lang="en-US">
                <a:solidFill>
                  <a:srgbClr val="20252B"/>
                </a:solidFill>
                <a:latin typeface="Arial"/>
              </a:rPr>
              <a:t>Abramson et al., Nature 630, 493–500 (2024). RCSB PDB 7QIE.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8458200" y="6510528"/>
            <a:ext cx="329184" cy="210312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0252B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47472" y="210312"/>
            <a:ext cx="844905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2400" lang="en-US" b="1">
                <a:solidFill>
                  <a:srgbClr val="C00000"/>
                </a:solidFill>
                <a:latin typeface="Arial"/>
              </a:rPr>
              <a:t>Boltz-2: Read the Right Output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384048" y="914400"/>
            <a:ext cx="8339327" cy="8412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Structural confidence, binding likelihood and activity estimates are different.</a:t>
            </a:r>
          </a:p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Validate the particular claim represented by each output.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37360"/>
            <a:ext cx="2743200" cy="1005840"/>
          </a:xfrm>
          <a:prstGeom prst="roundRect">
            <a:avLst/>
          </a:prstGeom>
          <a:solidFill>
            <a:srgbClr val="E5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"/>
          <p:cNvSpPr txBox="1"/>
          <p:nvPr/>
        </p:nvSpPr>
        <p:spPr>
          <a:xfrm>
            <a:off x="667512" y="1828800"/>
            <a:ext cx="2596896" cy="859536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800" b="0">
                <a:solidFill>
                  <a:srgbClr val="20252B"/>
                </a:solidFill>
                <a:latin typeface="Arial"/>
              </a:rPr>
              <a:t>Structure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3657600" y="1938528"/>
            <a:ext cx="4800600" cy="777240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2000" b="0">
                <a:solidFill>
                  <a:srgbClr val="20252B"/>
                </a:solidFill>
                <a:latin typeface="Arial"/>
              </a:rPr>
              <a:t>Is this molecular arrangement plausible?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063240"/>
            <a:ext cx="2743200" cy="1005840"/>
          </a:xfrm>
          <a:prstGeom prst="roundRect">
            <a:avLst/>
          </a:prstGeom>
          <a:solidFill>
            <a:srgbClr val="E5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"/>
          <p:cNvSpPr txBox="1"/>
          <p:nvPr/>
        </p:nvSpPr>
        <p:spPr>
          <a:xfrm>
            <a:off x="667512" y="3154680"/>
            <a:ext cx="2596896" cy="859536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800" b="0">
                <a:solidFill>
                  <a:srgbClr val="20252B"/>
                </a:solidFill>
                <a:latin typeface="Arial"/>
              </a:rPr>
              <a:t>Binding-related prediction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3657600" y="3264408"/>
            <a:ext cx="4800600" cy="777240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2000" b="0">
                <a:solidFill>
                  <a:srgbClr val="20252B"/>
                </a:solidFill>
                <a:latin typeface="Arial"/>
              </a:rPr>
              <a:t>What precisely was the model trained to predict?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389120"/>
            <a:ext cx="2743200" cy="1005840"/>
          </a:xfrm>
          <a:prstGeom prst="roundRect">
            <a:avLst/>
          </a:prstGeom>
          <a:solidFill>
            <a:srgbClr val="E5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"/>
          <p:cNvSpPr txBox="1"/>
          <p:nvPr/>
        </p:nvSpPr>
        <p:spPr>
          <a:xfrm>
            <a:off x="667512" y="4480559"/>
            <a:ext cx="2596896" cy="859536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800" b="0">
                <a:solidFill>
                  <a:srgbClr val="20252B"/>
                </a:solidFill>
                <a:latin typeface="Arial"/>
              </a:rPr>
              <a:t>Experimental result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3657600" y="4590288"/>
            <a:ext cx="4800600" cy="777240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2000" b="0">
                <a:solidFill>
                  <a:srgbClr val="20252B"/>
                </a:solidFill>
                <a:latin typeface="Arial"/>
              </a:rPr>
              <a:t>Which binding or functional assay checks it?</a:t>
            </a:r>
          </a:p>
        </p:txBody>
      </p:sp>
      <p:sp>
        <p:nvSpPr>
          <p:cNvPr id="13" name="caption"/>
          <p:cNvSpPr txBox="1"/>
          <p:nvPr/>
        </p:nvSpPr>
        <p:spPr>
          <a:xfrm>
            <a:off x="393192" y="5925312"/>
            <a:ext cx="8302752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600" lang="en-US">
                <a:solidFill>
                  <a:srgbClr val="20252B"/>
                </a:solidFill>
                <a:latin typeface="Arial"/>
              </a:rPr>
              <a:t>A confident-looking structure is not an experimental binding measurement.</a:t>
            </a:r>
          </a:p>
        </p:txBody>
      </p:sp>
      <p:sp>
        <p:nvSpPr>
          <p:cNvPr id="14" name="reference"/>
          <p:cNvSpPr txBox="1"/>
          <p:nvPr/>
        </p:nvSpPr>
        <p:spPr>
          <a:xfrm>
            <a:off x="393192" y="6455664"/>
            <a:ext cx="798271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200" lang="en-US">
                <a:solidFill>
                  <a:srgbClr val="20252B"/>
                </a:solidFill>
                <a:latin typeface="Arial"/>
              </a:rPr>
              <a:t>Boltz-2 original paper and official prediction documentation (2025).</a:t>
            </a:r>
          </a:p>
        </p:txBody>
      </p:sp>
      <p:sp>
        <p:nvSpPr>
          <p:cNvPr id="15" name="page_number"/>
          <p:cNvSpPr txBox="1"/>
          <p:nvPr/>
        </p:nvSpPr>
        <p:spPr>
          <a:xfrm>
            <a:off x="8458200" y="6510528"/>
            <a:ext cx="329184" cy="210312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0252B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47472" y="210312"/>
            <a:ext cx="844905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2400" lang="en-US" b="1">
                <a:solidFill>
                  <a:srgbClr val="C00000"/>
                </a:solidFill>
                <a:latin typeface="Arial"/>
              </a:rPr>
              <a:t>Nuclear Receptors: A Pose Does Not Define Function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393192" y="914400"/>
            <a:ext cx="8339328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Oestradiol and raloxifene stabilize different receptor arrangements.</a:t>
            </a:r>
          </a:p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An AI binding pose still needs a matching receptor-response assay.</a:t>
            </a:r>
          </a:p>
        </p:txBody>
      </p:sp>
      <p:pic>
        <p:nvPicPr>
          <p:cNvPr id="4" name="FIGURE:er_states" descr="er_states.png"/>
          <p:cNvPicPr>
            <a:picLocks noChangeAspect="1"/>
          </p:cNvPicPr>
          <p:nvPr/>
        </p:nvPicPr>
        <p:blipFill>
          <a:blip r:embed="rId2"/>
          <a:srcRect l="21417" t="19200" r="25750" b="8000"/>
          <a:stretch>
            <a:fillRect/>
          </a:stretch>
        </p:blipFill>
        <p:spPr>
          <a:xfrm>
            <a:off x="2305123" y="1901952"/>
            <a:ext cx="4533754" cy="3904488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393192" y="5925312"/>
            <a:ext cx="8302752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600" lang="en-US">
                <a:solidFill>
                  <a:srgbClr val="20252B"/>
                </a:solidFill>
                <a:latin typeface="Arial"/>
              </a:rPr>
              <a:t>Oestrogen receptor comparison: oestradiol blue; raloxifene wheat/orange.</a:t>
            </a:r>
          </a:p>
        </p:txBody>
      </p:sp>
      <p:sp>
        <p:nvSpPr>
          <p:cNvPr id="6" name="reference"/>
          <p:cNvSpPr txBox="1"/>
          <p:nvPr/>
        </p:nvSpPr>
        <p:spPr>
          <a:xfrm>
            <a:off x="393192" y="6455664"/>
            <a:ext cx="798271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200" lang="en-US">
                <a:solidFill>
                  <a:srgbClr val="20252B"/>
                </a:solidFill>
                <a:latin typeface="Arial"/>
              </a:rPr>
              <a:t>Brzozowski et al., Nature 389, 753–758 (1997); PDB 1ERE/1ERR.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8458200" y="6510528"/>
            <a:ext cx="329184" cy="210312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0252B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47472" y="210312"/>
            <a:ext cx="844905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2400" lang="en-US" b="1">
                <a:solidFill>
                  <a:srgbClr val="C00000"/>
                </a:solidFill>
                <a:latin typeface="Arial"/>
              </a:rPr>
              <a:t>Covalent Inhibitors: Model the Bound Chemistry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393192" y="914400"/>
            <a:ext cx="8339328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Ampicillin forms a covalent acyl-enzyme complex with a PBP.</a:t>
            </a:r>
          </a:p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Use covalent-aware preparation; docking does not predict the reaction.</a:t>
            </a:r>
          </a:p>
        </p:txBody>
      </p:sp>
      <p:pic>
        <p:nvPicPr>
          <p:cNvPr id="4" name="FIGURE:pbp_ampicillin" descr="pbp_ampicillin.png"/>
          <p:cNvPicPr>
            <a:picLocks noChangeAspect="1"/>
          </p:cNvPicPr>
          <p:nvPr/>
        </p:nvPicPr>
        <p:blipFill>
          <a:blip r:embed="rId2"/>
          <a:srcRect l="0" t="0" r="4250" b="0"/>
          <a:stretch>
            <a:fillRect/>
          </a:stretch>
        </p:blipFill>
        <p:spPr>
          <a:xfrm>
            <a:off x="1581162" y="1901952"/>
            <a:ext cx="5981676" cy="3904488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393192" y="5925312"/>
            <a:ext cx="8302752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600" lang="en-US">
                <a:solidFill>
                  <a:srgbClr val="20252B"/>
                </a:solidFill>
                <a:latin typeface="Arial"/>
              </a:rPr>
              <a:t>Experimental covalent ampicillin–PBP4 complex, PDB 2EX6.</a:t>
            </a:r>
          </a:p>
        </p:txBody>
      </p:sp>
      <p:sp>
        <p:nvSpPr>
          <p:cNvPr id="6" name="reference"/>
          <p:cNvSpPr txBox="1"/>
          <p:nvPr/>
        </p:nvSpPr>
        <p:spPr>
          <a:xfrm>
            <a:off x="393192" y="6455664"/>
            <a:ext cx="798271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200" lang="en-US">
                <a:solidFill>
                  <a:srgbClr val="20252B"/>
                </a:solidFill>
                <a:latin typeface="Arial"/>
              </a:rPr>
              <a:t>Kishida et al., Biochemistry 45, 783–792 (2006). McNutt et al., J. Cheminform. 17, 28 (2025).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8458200" y="6510528"/>
            <a:ext cx="329184" cy="210312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0252B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47472" y="210312"/>
            <a:ext cx="844905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2400" lang="en-US" b="1">
                <a:solidFill>
                  <a:srgbClr val="C00000"/>
                </a:solidFill>
                <a:latin typeface="Arial"/>
              </a:rPr>
              <a:t>Ion Channels: Flag Possible hERG Blockers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393192" y="914400"/>
            <a:ext cx="8339328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HERGAI predicts hERG inhibition from molecule–channel information.</a:t>
            </a:r>
          </a:p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Use the prediction to prioritize electrophysiology tests.</a:t>
            </a:r>
          </a:p>
        </p:txBody>
      </p:sp>
      <p:pic>
        <p:nvPicPr>
          <p:cNvPr id="4" name="FIGURE:herg_channel" descr="herg_channel.png"/>
          <p:cNvPicPr>
            <a:picLocks noChangeAspect="1"/>
          </p:cNvPicPr>
          <p:nvPr/>
        </p:nvPicPr>
        <p:blipFill>
          <a:blip r:embed="rId2"/>
          <a:srcRect l="19500" t="15800" r="26958" b="12200"/>
          <a:stretch>
            <a:fillRect/>
          </a:stretch>
        </p:blipFill>
        <p:spPr>
          <a:xfrm>
            <a:off x="2249177" y="1901952"/>
            <a:ext cx="4645647" cy="3904488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393192" y="5925312"/>
            <a:ext cx="8302752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600" lang="en-US">
                <a:solidFill>
                  <a:srgbClr val="20252B"/>
                </a:solidFill>
                <a:latin typeface="Arial"/>
              </a:rPr>
              <a:t>Experimental hERG channel structure, PDB 5VA1; no blocker pose is asserted.</a:t>
            </a:r>
          </a:p>
        </p:txBody>
      </p:sp>
      <p:sp>
        <p:nvSpPr>
          <p:cNvPr id="6" name="reference"/>
          <p:cNvSpPr txBox="1"/>
          <p:nvPr/>
        </p:nvSpPr>
        <p:spPr>
          <a:xfrm>
            <a:off x="393192" y="6455664"/>
            <a:ext cx="798271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200" lang="en-US">
                <a:solidFill>
                  <a:srgbClr val="20252B"/>
                </a:solidFill>
                <a:latin typeface="Arial"/>
              </a:rPr>
              <a:t>Tran-Nguyen et al., J. Cheminform. 17, 110 (2025); PDB 5VA1.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8458200" y="6510528"/>
            <a:ext cx="329184" cy="210312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0252B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47472" y="210312"/>
            <a:ext cx="844905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2400" lang="en-US" b="1">
                <a:solidFill>
                  <a:srgbClr val="C00000"/>
                </a:solidFill>
                <a:latin typeface="Arial"/>
              </a:rPr>
              <a:t>Screen Broadly; Test a Manageable Shortlist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393192" y="914400"/>
            <a:ext cx="8339328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AI-assisted ranking can reduce the number of compounds sent to the laboratory.</a:t>
            </a:r>
          </a:p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Keep chemically sensible and sufficiently diverse candidates.</a:t>
            </a:r>
          </a:p>
        </p:txBody>
      </p:sp>
      <p:pic>
        <p:nvPicPr>
          <p:cNvPr id="4" name="FIGURE:screening_collection" descr="screening_col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542" y="1901952"/>
            <a:ext cx="7320915" cy="3904488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393192" y="5925312"/>
            <a:ext cx="8302752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600" lang="en-US">
                <a:solidFill>
                  <a:srgbClr val="20252B"/>
                </a:solidFill>
                <a:latin typeface="Arial"/>
              </a:rPr>
              <a:t>Illustrative candidate collection; no activities or model scores are assigned.</a:t>
            </a:r>
          </a:p>
        </p:txBody>
      </p:sp>
      <p:sp>
        <p:nvSpPr>
          <p:cNvPr id="6" name="reference"/>
          <p:cNvSpPr txBox="1"/>
          <p:nvPr/>
        </p:nvSpPr>
        <p:spPr>
          <a:xfrm>
            <a:off x="393192" y="6455664"/>
            <a:ext cx="798271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200" lang="en-US">
                <a:solidFill>
                  <a:srgbClr val="20252B"/>
                </a:solidFill>
                <a:latin typeface="Arial"/>
              </a:rPr>
              <a:t>McNutt et al., J. Cheminform. 17, 28 (2025).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8458200" y="6510528"/>
            <a:ext cx="329184" cy="210312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0252B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47472" y="210312"/>
            <a:ext cx="844905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2400" lang="en-US" b="1">
                <a:solidFill>
                  <a:srgbClr val="C00000"/>
                </a:solidFill>
                <a:latin typeface="Arial"/>
              </a:rPr>
              <a:t>Predict Activity from Measured Examples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393192" y="914400"/>
            <a:ext cx="8339328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Chemprop can learn a defined activity endpoint from appropriate assay data.</a:t>
            </a:r>
          </a:p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Test predictions on compounds not used to build the model.</a:t>
            </a:r>
          </a:p>
        </p:txBody>
      </p:sp>
      <p:pic>
        <p:nvPicPr>
          <p:cNvPr id="4" name="FIGURE:assay_examples" descr="assay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542" y="1901952"/>
            <a:ext cx="7320915" cy="3904488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393192" y="5925312"/>
            <a:ext cx="8302752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600" lang="en-US">
                <a:solidFill>
                  <a:srgbClr val="20252B"/>
                </a:solidFill>
                <a:latin typeface="Arial"/>
              </a:rPr>
              <a:t>A structure and an assay result form a learning example.</a:t>
            </a:r>
          </a:p>
        </p:txBody>
      </p:sp>
      <p:sp>
        <p:nvSpPr>
          <p:cNvPr id="6" name="reference"/>
          <p:cNvSpPr txBox="1"/>
          <p:nvPr/>
        </p:nvSpPr>
        <p:spPr>
          <a:xfrm>
            <a:off x="393192" y="6455664"/>
            <a:ext cx="798271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200" lang="en-US">
                <a:solidFill>
                  <a:srgbClr val="20252B"/>
                </a:solidFill>
                <a:latin typeface="Arial"/>
              </a:rPr>
              <a:t>Heid et al., J. Chem. Inf. Model. 64, 9–17 (2024).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8458200" y="6510528"/>
            <a:ext cx="329184" cy="210312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0252B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47472" y="210312"/>
            <a:ext cx="844905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2400" lang="en-US" b="1">
                <a:solidFill>
                  <a:srgbClr val="C00000"/>
                </a:solidFill>
                <a:latin typeface="Arial"/>
              </a:rPr>
              <a:t>Small Changes: Theophylline versus Caffeine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393192" y="914400"/>
            <a:ext cx="8339328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These molecules differ by one methyl group.</a:t>
            </a:r>
          </a:p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The RNA-recognition example shows why a model must distinguish them.</a:t>
            </a:r>
          </a:p>
        </p:txBody>
      </p:sp>
      <p:pic>
        <p:nvPicPr>
          <p:cNvPr id="4" name="FIGURE:xanthine_pair" descr="xanthine_p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542" y="1901952"/>
            <a:ext cx="7320915" cy="3904488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393192" y="5925312"/>
            <a:ext cx="8302752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600" lang="en-US">
                <a:solidFill>
                  <a:srgbClr val="20252B"/>
                </a:solidFill>
                <a:latin typeface="Arial"/>
              </a:rPr>
              <a:t>A theophylline-binding RNA aptamer discriminates against caffeine.</a:t>
            </a:r>
          </a:p>
        </p:txBody>
      </p:sp>
      <p:sp>
        <p:nvSpPr>
          <p:cNvPr id="6" name="reference"/>
          <p:cNvSpPr txBox="1"/>
          <p:nvPr/>
        </p:nvSpPr>
        <p:spPr>
          <a:xfrm>
            <a:off x="393192" y="6455664"/>
            <a:ext cx="798271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200" lang="en-US">
                <a:solidFill>
                  <a:srgbClr val="20252B"/>
                </a:solidFill>
                <a:latin typeface="Arial"/>
              </a:rPr>
              <a:t>Zimmermann et al., Nat. Struct. Biol. 4, 644–649 (1997).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8458200" y="6510528"/>
            <a:ext cx="329184" cy="210312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0252B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47472" y="210312"/>
            <a:ext cx="844905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2400" lang="en-US" b="1">
                <a:solidFill>
                  <a:srgbClr val="C00000"/>
                </a:solidFill>
                <a:latin typeface="Arial"/>
              </a:rPr>
              <a:t>RNA Targets Need RNA-Relevant Models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393192" y="914400"/>
            <a:ext cx="8339328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SMRTnet combines RNA sequence/secondary structure with the candidate molecule.</a:t>
            </a:r>
          </a:p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Protein-trained binding predictions should not be transferred to RNA without testing.</a:t>
            </a:r>
          </a:p>
        </p:txBody>
      </p:sp>
      <p:pic>
        <p:nvPicPr>
          <p:cNvPr id="4" name="FIGURE:rna_theophylline" descr="rna_theophyl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8410" y="1901952"/>
            <a:ext cx="6247181" cy="3904488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393192" y="5925312"/>
            <a:ext cx="8302752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600" lang="en-US">
                <a:solidFill>
                  <a:srgbClr val="20252B"/>
                </a:solidFill>
                <a:latin typeface="Arial"/>
              </a:rPr>
              <a:t>Experimental theophylline–RNA aptamer, PDB 1EHT; one NMR model.</a:t>
            </a:r>
          </a:p>
        </p:txBody>
      </p:sp>
      <p:sp>
        <p:nvSpPr>
          <p:cNvPr id="6" name="reference"/>
          <p:cNvSpPr txBox="1"/>
          <p:nvPr/>
        </p:nvSpPr>
        <p:spPr>
          <a:xfrm>
            <a:off x="393192" y="6455664"/>
            <a:ext cx="798271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200" lang="en-US">
                <a:solidFill>
                  <a:srgbClr val="20252B"/>
                </a:solidFill>
                <a:latin typeface="Arial"/>
              </a:rPr>
              <a:t>Fei et al., Nat. Biotechnol. (2026), doi:10.1038/s41587-025-02942-z. PDB 1EHT.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8458200" y="6510528"/>
            <a:ext cx="329184" cy="210312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0252B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47472" y="210312"/>
            <a:ext cx="844905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2400" lang="en-US" b="1">
                <a:solidFill>
                  <a:srgbClr val="C00000"/>
                </a:solidFill>
                <a:latin typeface="Arial"/>
              </a:rPr>
              <a:t>Ask AI to Propose New Chemical Ideas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393192" y="914400"/>
            <a:ext cx="8339328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REINVENT 4 can decorate a scaffold, link fragments or propose new molecules.</a:t>
            </a:r>
          </a:p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Design goals guide proposals; synthesis and assays determine their value.</a:t>
            </a:r>
          </a:p>
        </p:txBody>
      </p:sp>
      <p:pic>
        <p:nvPicPr>
          <p:cNvPr id="4" name="FIGURE:reinvent_fig4" descr="reinvent_fi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" y="1938473"/>
            <a:ext cx="8339328" cy="3831447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393192" y="5925312"/>
            <a:ext cx="8302752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600" lang="en-US">
                <a:solidFill>
                  <a:srgbClr val="20252B"/>
                </a:solidFill>
                <a:latin typeface="Arial"/>
              </a:rPr>
              <a:t>Four molecular-design tasks in REINVENT 4.</a:t>
            </a:r>
          </a:p>
        </p:txBody>
      </p:sp>
      <p:sp>
        <p:nvSpPr>
          <p:cNvPr id="6" name="reference"/>
          <p:cNvSpPr txBox="1"/>
          <p:nvPr/>
        </p:nvSpPr>
        <p:spPr>
          <a:xfrm>
            <a:off x="393192" y="6455664"/>
            <a:ext cx="798271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200" lang="en-US">
                <a:solidFill>
                  <a:srgbClr val="20252B"/>
                </a:solidFill>
                <a:latin typeface="Arial"/>
              </a:rPr>
              <a:t>Loeffler et al., J. Cheminform. 16, 20 (2024).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8458200" y="6510528"/>
            <a:ext cx="329184" cy="210312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0252B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47472" y="210312"/>
            <a:ext cx="844905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2400" lang="en-US" b="1">
                <a:solidFill>
                  <a:srgbClr val="C00000"/>
                </a:solidFill>
                <a:latin typeface="Arial"/>
              </a:rPr>
              <a:t>Predict a Target Profile, Not Just One Score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393192" y="914400"/>
            <a:ext cx="8339328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Related proteins and unwanted targets may also interact with the molecule.</a:t>
            </a:r>
          </a:p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Follow promising predictions with an appropriate target panel.</a:t>
            </a:r>
          </a:p>
        </p:txBody>
      </p:sp>
      <p:pic>
        <p:nvPicPr>
          <p:cNvPr id="4" name="FIGURE:selectivity_panel" descr="selectivity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542" y="1901952"/>
            <a:ext cx="7320915" cy="3904488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393192" y="5925312"/>
            <a:ext cx="8302752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600" lang="en-US">
                <a:solidFill>
                  <a:srgbClr val="20252B"/>
                </a:solidFill>
                <a:latin typeface="Arial"/>
              </a:rPr>
              <a:t>Hypothetical matched-assay inhibition patterns—not measured candidates.</a:t>
            </a:r>
          </a:p>
        </p:txBody>
      </p:sp>
      <p:sp>
        <p:nvSpPr>
          <p:cNvPr id="6" name="reference"/>
          <p:cNvSpPr txBox="1"/>
          <p:nvPr/>
        </p:nvSpPr>
        <p:spPr>
          <a:xfrm>
            <a:off x="393192" y="6455664"/>
            <a:ext cx="798271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200" lang="en-US">
                <a:solidFill>
                  <a:srgbClr val="20252B"/>
                </a:solidFill>
                <a:latin typeface="Arial"/>
              </a:rPr>
              <a:t>Hopkins, Nat. Chem. Biol. 4, 682–690 (2008).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8458200" y="6510528"/>
            <a:ext cx="329184" cy="210312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0252B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47472" y="210312"/>
            <a:ext cx="844905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2400" lang="en-US" b="1">
                <a:solidFill>
                  <a:srgbClr val="C00000"/>
                </a:solidFill>
                <a:latin typeface="Arial"/>
              </a:rPr>
              <a:t>DNA Targets Need a Relevant Binding Model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393192" y="914400"/>
            <a:ext cx="8339328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Intercalation and groove binding pose different recognition problems.</a:t>
            </a:r>
          </a:p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Use DNA-relevant inputs and binding tests—not assumed protein-model transfer.</a:t>
            </a:r>
          </a:p>
        </p:txBody>
      </p:sp>
      <p:pic>
        <p:nvPicPr>
          <p:cNvPr id="4" name="FIGURE:dna_complex" descr="dna_complex.png"/>
          <p:cNvPicPr>
            <a:picLocks noChangeAspect="1"/>
          </p:cNvPicPr>
          <p:nvPr/>
        </p:nvPicPr>
        <p:blipFill>
          <a:blip r:embed="rId2"/>
          <a:srcRect l="20500" t="23000" r="23042" b="18933"/>
          <a:stretch>
            <a:fillRect/>
          </a:stretch>
        </p:blipFill>
        <p:spPr>
          <a:xfrm>
            <a:off x="1534962" y="1901952"/>
            <a:ext cx="6074075" cy="3904488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393192" y="5925312"/>
            <a:ext cx="8302752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600" lang="en-US">
                <a:solidFill>
                  <a:srgbClr val="20252B"/>
                </a:solidFill>
                <a:latin typeface="Arial"/>
              </a:rPr>
              <a:t>Experimental anthracycline–DNA complex, PDB 1D12.</a:t>
            </a:r>
          </a:p>
        </p:txBody>
      </p:sp>
      <p:sp>
        <p:nvSpPr>
          <p:cNvPr id="6" name="reference"/>
          <p:cNvSpPr txBox="1"/>
          <p:nvPr/>
        </p:nvSpPr>
        <p:spPr>
          <a:xfrm>
            <a:off x="393192" y="6455664"/>
            <a:ext cx="798271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200" lang="en-US">
                <a:solidFill>
                  <a:srgbClr val="20252B"/>
                </a:solidFill>
                <a:latin typeface="Arial"/>
              </a:rPr>
              <a:t>RCSB PDB 1D12; drug–nucleic-acid recognition context.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8458200" y="6510528"/>
            <a:ext cx="329184" cy="210312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0252B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47472" y="210312"/>
            <a:ext cx="844905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2400" lang="en-US" b="1">
                <a:solidFill>
                  <a:srgbClr val="C00000"/>
                </a:solidFill>
                <a:latin typeface="Arial"/>
              </a:rPr>
              <a:t>Check Target Function with Experiments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393192" y="914400"/>
            <a:ext cx="8339328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A predicted binding arrangement needs independent experimental tests.</a:t>
            </a:r>
          </a:p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Enzyme and cellular assays test function—not equilibrium binding alone.</a:t>
            </a:r>
          </a:p>
        </p:txBody>
      </p:sp>
      <p:pic>
        <p:nvPicPr>
          <p:cNvPr id="4" name="FIGURE:tnik_binding" descr="tnik_bi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4514" y="1901952"/>
            <a:ext cx="3854971" cy="3904488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393192" y="5925312"/>
            <a:ext cx="8302752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600" lang="en-US">
                <a:solidFill>
                  <a:srgbClr val="20252B"/>
                </a:solidFill>
                <a:latin typeface="Arial"/>
              </a:rPr>
              <a:t>Ren et al., Figure 2: predicted structures and distinct functional measurements.</a:t>
            </a:r>
          </a:p>
        </p:txBody>
      </p:sp>
      <p:sp>
        <p:nvSpPr>
          <p:cNvPr id="6" name="reference"/>
          <p:cNvSpPr txBox="1"/>
          <p:nvPr/>
        </p:nvSpPr>
        <p:spPr>
          <a:xfrm>
            <a:off x="393192" y="6455664"/>
            <a:ext cx="798271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200" lang="en-US">
                <a:solidFill>
                  <a:srgbClr val="20252B"/>
                </a:solidFill>
                <a:latin typeface="Arial"/>
              </a:rPr>
              <a:t>Ren et al., Nat. Biotechnol. 43, 63–75 (2025; online 2024).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8458200" y="6510528"/>
            <a:ext cx="329184" cy="210312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0252B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47472" y="210312"/>
            <a:ext cx="844905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2400" lang="en-US" b="1">
                <a:solidFill>
                  <a:srgbClr val="C00000"/>
                </a:solidFill>
                <a:latin typeface="Arial"/>
              </a:rPr>
              <a:t>Use Cell Images to Measure the Response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393192" y="914400"/>
            <a:ext cx="8339328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Images capture changes in cell shape and internal organization.</a:t>
            </a:r>
          </a:p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AI-assisted image analysis needs controls and a clearly defined biological question.</a:t>
            </a:r>
          </a:p>
        </p:txBody>
      </p:sp>
      <p:pic>
        <p:nvPicPr>
          <p:cNvPr id="4" name="FIGURE:cellpaint_fig1" descr="cellpaint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531" y="1901952"/>
            <a:ext cx="5848939" cy="3904488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393192" y="5925312"/>
            <a:ext cx="8302752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600" lang="en-US">
                <a:solidFill>
                  <a:srgbClr val="20252B"/>
                </a:solidFill>
                <a:latin typeface="Arial"/>
              </a:rPr>
              <a:t>Published Cell Painting example; images are experimental inputs.</a:t>
            </a:r>
          </a:p>
        </p:txBody>
      </p:sp>
      <p:sp>
        <p:nvSpPr>
          <p:cNvPr id="6" name="reference"/>
          <p:cNvSpPr txBox="1"/>
          <p:nvPr/>
        </p:nvSpPr>
        <p:spPr>
          <a:xfrm>
            <a:off x="393192" y="6455664"/>
            <a:ext cx="798271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200" lang="en-US">
                <a:solidFill>
                  <a:srgbClr val="20252B"/>
                </a:solidFill>
                <a:latin typeface="Arial"/>
              </a:rPr>
              <a:t>Chandrasekaran et al., Nat. Methods 21, 1114–1121 (2024).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8458200" y="6510528"/>
            <a:ext cx="329184" cy="210312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0252B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47472" y="210312"/>
            <a:ext cx="844905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2400" lang="en-US" b="1">
                <a:solidFill>
                  <a:srgbClr val="C00000"/>
                </a:solidFill>
                <a:latin typeface="Arial"/>
              </a:rPr>
              <a:t>Work Backwards from an Unexplained Cell Effect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393192" y="914400"/>
            <a:ext cx="8339328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Compare the compound’s profile with well-characterized references.</a:t>
            </a:r>
          </a:p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A similar pattern suggests a mechanism to test, not a proven shared target.</a:t>
            </a:r>
          </a:p>
        </p:txBody>
      </p:sp>
      <p:pic>
        <p:nvPicPr>
          <p:cNvPr id="4" name="FIGURE:profile_comparison" descr="profil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542" y="1901952"/>
            <a:ext cx="7320915" cy="3904488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393192" y="5925312"/>
            <a:ext cx="8302752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600" lang="en-US">
                <a:solidFill>
                  <a:srgbClr val="20252B"/>
                </a:solidFill>
                <a:latin typeface="Arial"/>
              </a:rPr>
              <a:t>Simulated profiles show how reference matching can generate a hypothesis.</a:t>
            </a:r>
          </a:p>
        </p:txBody>
      </p:sp>
      <p:sp>
        <p:nvSpPr>
          <p:cNvPr id="6" name="reference"/>
          <p:cNvSpPr txBox="1"/>
          <p:nvPr/>
        </p:nvSpPr>
        <p:spPr>
          <a:xfrm>
            <a:off x="393192" y="6455664"/>
            <a:ext cx="798271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200" lang="en-US">
                <a:solidFill>
                  <a:srgbClr val="20252B"/>
                </a:solidFill>
                <a:latin typeface="Arial"/>
              </a:rPr>
              <a:t>Chandrasekaran et al., Nat. Methods 21, 1114–1121 (2024).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8458200" y="6510528"/>
            <a:ext cx="329184" cy="210312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0252B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47472" y="210312"/>
            <a:ext cx="844905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2400" lang="en-US" b="1">
                <a:solidFill>
                  <a:srgbClr val="C00000"/>
                </a:solidFill>
                <a:latin typeface="Arial"/>
              </a:rPr>
              <a:t>Let Experiments Change the Next Design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384048" y="914400"/>
            <a:ext cx="8339327" cy="8412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Use both successful and unsuccessful compounds to refine the next choice.</a:t>
            </a:r>
          </a:p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The best next experiment may test a new chemical idea, not the highest score.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2011680"/>
            <a:ext cx="2468880" cy="822960"/>
          </a:xfrm>
          <a:prstGeom prst="roundRect">
            <a:avLst/>
          </a:prstGeom>
          <a:solidFill>
            <a:srgbClr val="E5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"/>
          <p:cNvSpPr txBox="1"/>
          <p:nvPr/>
        </p:nvSpPr>
        <p:spPr>
          <a:xfrm>
            <a:off x="1078992" y="2103120"/>
            <a:ext cx="2322576" cy="676656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2200" b="0">
                <a:solidFill>
                  <a:srgbClr val="20252B"/>
                </a:solidFill>
                <a:latin typeface="Arial"/>
              </a:rPr>
              <a:t>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2011680"/>
            <a:ext cx="2468880" cy="822960"/>
          </a:xfrm>
          <a:prstGeom prst="roundRect">
            <a:avLst/>
          </a:prstGeom>
          <a:solidFill>
            <a:srgbClr val="E5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"/>
          <p:cNvSpPr txBox="1"/>
          <p:nvPr/>
        </p:nvSpPr>
        <p:spPr>
          <a:xfrm>
            <a:off x="5559552" y="2103120"/>
            <a:ext cx="2322576" cy="676656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2200" b="0">
                <a:solidFill>
                  <a:srgbClr val="20252B"/>
                </a:solidFill>
                <a:latin typeface="Arial"/>
              </a:rPr>
              <a:t>Make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4206240"/>
            <a:ext cx="2468880" cy="822960"/>
          </a:xfrm>
          <a:prstGeom prst="roundRect">
            <a:avLst/>
          </a:prstGeom>
          <a:solidFill>
            <a:srgbClr val="E5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"/>
          <p:cNvSpPr txBox="1"/>
          <p:nvPr/>
        </p:nvSpPr>
        <p:spPr>
          <a:xfrm>
            <a:off x="5559552" y="4297679"/>
            <a:ext cx="2322576" cy="676656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2200" b="0">
                <a:solidFill>
                  <a:srgbClr val="20252B"/>
                </a:solidFill>
                <a:latin typeface="Arial"/>
              </a:rPr>
              <a:t>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4206240"/>
            <a:ext cx="2468880" cy="822960"/>
          </a:xfrm>
          <a:prstGeom prst="roundRect">
            <a:avLst/>
          </a:prstGeom>
          <a:solidFill>
            <a:srgbClr val="E5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"/>
          <p:cNvSpPr txBox="1"/>
          <p:nvPr/>
        </p:nvSpPr>
        <p:spPr>
          <a:xfrm>
            <a:off x="1078992" y="4297679"/>
            <a:ext cx="2322576" cy="676656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2200" b="0">
                <a:solidFill>
                  <a:srgbClr val="20252B"/>
                </a:solidFill>
                <a:latin typeface="Arial"/>
              </a:rPr>
              <a:t>Learn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3931920" y="2157984"/>
            <a:ext cx="594360" cy="457200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2600" b="0">
                <a:solidFill>
                  <a:srgbClr val="20252B"/>
                </a:solidFill>
                <a:latin typeface="Arial"/>
              </a:rPr>
              <a:t>→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6510528" y="3291840"/>
            <a:ext cx="594360" cy="457200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2600" b="0">
                <a:solidFill>
                  <a:srgbClr val="20252B"/>
                </a:solidFill>
                <a:latin typeface="Arial"/>
              </a:rPr>
              <a:t>↓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3931920" y="4389120"/>
            <a:ext cx="594360" cy="457200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2600" b="0">
                <a:solidFill>
                  <a:srgbClr val="20252B"/>
                </a:solidFill>
                <a:latin typeface="Arial"/>
              </a:rPr>
              <a:t>←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2011680" y="3291840"/>
            <a:ext cx="594360" cy="457200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2600" b="0">
                <a:solidFill>
                  <a:srgbClr val="20252B"/>
                </a:solidFill>
                <a:latin typeface="Arial"/>
              </a:rPr>
              <a:t>↑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2194560" y="3401568"/>
            <a:ext cx="4754880" cy="640080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800" b="0">
                <a:solidFill>
                  <a:srgbClr val="20252B"/>
                </a:solidFill>
                <a:latin typeface="Arial"/>
              </a:rPr>
              <a:t>Measurements change the next chemical decision.</a:t>
            </a:r>
          </a:p>
        </p:txBody>
      </p:sp>
      <p:sp>
        <p:nvSpPr>
          <p:cNvPr id="17" name="caption"/>
          <p:cNvSpPr txBox="1"/>
          <p:nvPr/>
        </p:nvSpPr>
        <p:spPr>
          <a:xfrm>
            <a:off x="393192" y="5925312"/>
            <a:ext cx="8302752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600" lang="en-US">
                <a:solidFill>
                  <a:srgbClr val="20252B"/>
                </a:solidFill>
                <a:latin typeface="Arial"/>
              </a:rPr>
              <a:t>Design → make → test → learn: AI supports the experimental cycle.</a:t>
            </a:r>
          </a:p>
        </p:txBody>
      </p:sp>
      <p:sp>
        <p:nvSpPr>
          <p:cNvPr id="18" name="reference"/>
          <p:cNvSpPr txBox="1"/>
          <p:nvPr/>
        </p:nvSpPr>
        <p:spPr>
          <a:xfrm>
            <a:off x="393192" y="6455664"/>
            <a:ext cx="798271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200" lang="en-US">
                <a:solidFill>
                  <a:srgbClr val="20252B"/>
                </a:solidFill>
                <a:latin typeface="Arial"/>
              </a:rPr>
              <a:t>Loeffler et al., J. Cheminform. 16, 20 (2024).</a:t>
            </a:r>
          </a:p>
        </p:txBody>
      </p:sp>
      <p:sp>
        <p:nvSpPr>
          <p:cNvPr id="19" name="page_number"/>
          <p:cNvSpPr txBox="1"/>
          <p:nvPr/>
        </p:nvSpPr>
        <p:spPr>
          <a:xfrm>
            <a:off x="8458200" y="6510528"/>
            <a:ext cx="329184" cy="210312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0252B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47472" y="210312"/>
            <a:ext cx="844905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2400" lang="en-US" b="1">
                <a:solidFill>
                  <a:srgbClr val="C00000"/>
                </a:solidFill>
                <a:latin typeface="Arial"/>
              </a:rPr>
              <a:t>Case 1: AI Helped Design TNIK Inhibitors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393192" y="914400"/>
            <a:ext cx="8339328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After target prioritization, Chemistry42 proposed candidate structures.</a:t>
            </a:r>
          </a:p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Synthesis and experimental filtering guided candidate selection.</a:t>
            </a:r>
          </a:p>
        </p:txBody>
      </p:sp>
      <p:pic>
        <p:nvPicPr>
          <p:cNvPr id="4" name="FIGURE:tnik_design" descr="tnik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271" y="1901952"/>
            <a:ext cx="5435458" cy="3904488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393192" y="5925312"/>
            <a:ext cx="8302752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600" lang="en-US">
                <a:solidFill>
                  <a:srgbClr val="20252B"/>
                </a:solidFill>
                <a:latin typeface="Arial"/>
              </a:rPr>
              <a:t>Published structure-based design inputs and filters—not a fully automated discovery.</a:t>
            </a:r>
          </a:p>
        </p:txBody>
      </p:sp>
      <p:sp>
        <p:nvSpPr>
          <p:cNvPr id="6" name="reference"/>
          <p:cNvSpPr txBox="1"/>
          <p:nvPr/>
        </p:nvSpPr>
        <p:spPr>
          <a:xfrm>
            <a:off x="393192" y="6455664"/>
            <a:ext cx="798271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200" lang="en-US">
                <a:solidFill>
                  <a:srgbClr val="20252B"/>
                </a:solidFill>
                <a:latin typeface="Arial"/>
              </a:rPr>
              <a:t>Ren et al., Nat. Biotechnol. 43, 63–75 (2025; online 2024).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8458200" y="6510528"/>
            <a:ext cx="329184" cy="210312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0252B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47472" y="210312"/>
            <a:ext cx="844905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2400" lang="en-US" b="1">
                <a:solidFill>
                  <a:srgbClr val="C00000"/>
                </a:solidFill>
                <a:latin typeface="Arial"/>
              </a:rPr>
              <a:t>Case 1: Separate Prediction from Measured PD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393192" y="914400"/>
            <a:ext cx="8339328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The candidate bound TNIK and inhibited the enzyme.</a:t>
            </a:r>
          </a:p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Cell assays showed fibrosis-related effects; those need mechanistic interpretation.</a:t>
            </a:r>
          </a:p>
        </p:txBody>
      </p:sp>
      <p:pic>
        <p:nvPicPr>
          <p:cNvPr id="4" name="FIGURE:tnik_cell" descr="tnik_c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644" y="1901952"/>
            <a:ext cx="7428713" cy="3904488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393192" y="5925312"/>
            <a:ext cx="8302752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600" lang="en-US">
                <a:solidFill>
                  <a:srgbClr val="20252B"/>
                </a:solidFill>
                <a:latin typeface="Arial"/>
              </a:rPr>
              <a:t>Published cellular assay evidence for INS018_055.</a:t>
            </a:r>
          </a:p>
        </p:txBody>
      </p:sp>
      <p:sp>
        <p:nvSpPr>
          <p:cNvPr id="6" name="reference"/>
          <p:cNvSpPr txBox="1"/>
          <p:nvPr/>
        </p:nvSpPr>
        <p:spPr>
          <a:xfrm>
            <a:off x="393192" y="6455664"/>
            <a:ext cx="798271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200" lang="en-US">
                <a:solidFill>
                  <a:srgbClr val="20252B"/>
                </a:solidFill>
                <a:latin typeface="Arial"/>
              </a:rPr>
              <a:t>Ren et al., Nat. Biotechnol. 43, 63–75 (2025; online 2024).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8458200" y="6510528"/>
            <a:ext cx="329184" cy="210312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0252B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47472" y="210312"/>
            <a:ext cx="844905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2400" lang="en-US" b="1">
                <a:solidFill>
                  <a:srgbClr val="C00000"/>
                </a:solidFill>
                <a:latin typeface="Arial"/>
              </a:rPr>
              <a:t>Case 2: Expand a Fragment into New Candidates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393192" y="914400"/>
            <a:ext cx="8339328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The published fragment route starts from an antibacterial chemical clue.</a:t>
            </a:r>
          </a:p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Predicted activity and toxicity help choose compounds for synthesis.</a:t>
            </a:r>
          </a:p>
        </p:txBody>
      </p:sp>
      <p:pic>
        <p:nvPicPr>
          <p:cNvPr id="4" name="FIGURE:antibiotics_workflow" descr="antibiotics_fig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933" y="1901952"/>
            <a:ext cx="5066134" cy="3904488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393192" y="5925312"/>
            <a:ext cx="8302752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600" lang="en-US">
                <a:solidFill>
                  <a:srgbClr val="20252B"/>
                </a:solidFill>
                <a:latin typeface="Arial"/>
              </a:rPr>
              <a:t>Published generative-antibiotic strategy; candidate generation precedes validation.</a:t>
            </a:r>
          </a:p>
        </p:txBody>
      </p:sp>
      <p:sp>
        <p:nvSpPr>
          <p:cNvPr id="6" name="reference"/>
          <p:cNvSpPr txBox="1"/>
          <p:nvPr/>
        </p:nvSpPr>
        <p:spPr>
          <a:xfrm>
            <a:off x="393192" y="6455664"/>
            <a:ext cx="798271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200" lang="en-US">
                <a:solidFill>
                  <a:srgbClr val="20252B"/>
                </a:solidFill>
                <a:latin typeface="Arial"/>
              </a:rPr>
              <a:t>Krishnan et al., Cell 188, 5962–5979.e22 (2025).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8458200" y="6510528"/>
            <a:ext cx="329184" cy="210312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0252B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47472" y="210312"/>
            <a:ext cx="844905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2400" lang="en-US" b="1">
                <a:solidFill>
                  <a:srgbClr val="C00000"/>
                </a:solidFill>
                <a:latin typeface="Arial"/>
              </a:rPr>
              <a:t>Case 2: Test the Designed Antibiotics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393192" y="914400"/>
            <a:ext cx="8339328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The full study synthesized 24 compounds; seven were selectively antibacterial.</a:t>
            </a:r>
          </a:p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The displayed NG series links generated structures to antibacterial tests.</a:t>
            </a:r>
          </a:p>
        </p:txBody>
      </p:sp>
      <p:pic>
        <p:nvPicPr>
          <p:cNvPr id="4" name="FIGURE:antibiotics_evidence" descr="antibiotics_fig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918" y="1901952"/>
            <a:ext cx="4248164" cy="3904488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393192" y="5925312"/>
            <a:ext cx="8302752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600" lang="en-US">
                <a:solidFill>
                  <a:srgbClr val="20252B"/>
                </a:solidFill>
                <a:latin typeface="Arial"/>
              </a:rPr>
              <a:t>Published antibacterial study: chemistry and experiments, not human efficacy.</a:t>
            </a:r>
          </a:p>
        </p:txBody>
      </p:sp>
      <p:sp>
        <p:nvSpPr>
          <p:cNvPr id="6" name="reference"/>
          <p:cNvSpPr txBox="1"/>
          <p:nvPr/>
        </p:nvSpPr>
        <p:spPr>
          <a:xfrm>
            <a:off x="393192" y="6455664"/>
            <a:ext cx="798271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200" lang="en-US">
                <a:solidFill>
                  <a:srgbClr val="20252B"/>
                </a:solidFill>
                <a:latin typeface="Arial"/>
              </a:rPr>
              <a:t>Krishnan et al., Cell 188, 5962–5979.e22 (2025).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8458200" y="6510528"/>
            <a:ext cx="329184" cy="210312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0252B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47472" y="210312"/>
            <a:ext cx="844905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2400" lang="en-US" b="1">
                <a:solidFill>
                  <a:srgbClr val="C00000"/>
                </a:solidFill>
                <a:latin typeface="Arial"/>
              </a:rPr>
              <a:t>Case 3: Predict the Receptor, Then Screen Ligands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393192" y="914400"/>
            <a:ext cx="8339328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AlphaFold2 supplied receptor models; docking selected candidate molecules.</a:t>
            </a:r>
          </a:p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Experiments checked binding and followed up selected complexes.</a:t>
            </a:r>
          </a:p>
        </p:txBody>
      </p:sp>
      <p:pic>
        <p:nvPicPr>
          <p:cNvPr id="4" name="FIGURE:lyu_cryoem" descr="lyu_cryoem.png"/>
          <p:cNvPicPr>
            <a:picLocks noChangeAspect="1"/>
          </p:cNvPicPr>
          <p:nvPr/>
        </p:nvPicPr>
        <p:blipFill>
          <a:blip r:embed="rId2"/>
          <a:srcRect l="23667" t="9133" r="21375" b="13133"/>
          <a:stretch>
            <a:fillRect/>
          </a:stretch>
        </p:blipFill>
        <p:spPr>
          <a:xfrm>
            <a:off x="2363619" y="1901952"/>
            <a:ext cx="4416762" cy="3904488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393192" y="5925312"/>
            <a:ext cx="8302752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600" lang="en-US">
                <a:solidFill>
                  <a:srgbClr val="20252B"/>
                </a:solidFill>
                <a:latin typeface="Arial"/>
              </a:rPr>
              <a:t>Experimental 5-HT₂A complex from the study’s structural follow-up, PDB 8UWL.</a:t>
            </a:r>
          </a:p>
        </p:txBody>
      </p:sp>
      <p:sp>
        <p:nvSpPr>
          <p:cNvPr id="6" name="reference"/>
          <p:cNvSpPr txBox="1"/>
          <p:nvPr/>
        </p:nvSpPr>
        <p:spPr>
          <a:xfrm>
            <a:off x="393192" y="6455664"/>
            <a:ext cx="798271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200" lang="en-US">
                <a:solidFill>
                  <a:srgbClr val="20252B"/>
                </a:solidFill>
                <a:latin typeface="Arial"/>
              </a:rPr>
              <a:t>Lyu et al., Science 384, eadn6354 (2024).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8458200" y="6510528"/>
            <a:ext cx="329184" cy="210312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0252B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47472" y="210312"/>
            <a:ext cx="844905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2400" lang="en-US" b="1">
                <a:solidFill>
                  <a:srgbClr val="C00000"/>
                </a:solidFill>
                <a:latin typeface="Arial"/>
              </a:rPr>
              <a:t>Case 3: Did Model-Based Screening Help?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393192" y="914400"/>
            <a:ext cx="8339328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Both predicted-structure and experimental-structure campaigns found binders.</a:t>
            </a:r>
          </a:p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Similar results in this comparison do not guarantee success on every target.</a:t>
            </a:r>
          </a:p>
        </p:txBody>
      </p:sp>
      <p:pic>
        <p:nvPicPr>
          <p:cNvPr id="4" name="FIGURE:lyu_hit_rates" descr="lyu_hit_r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542" y="1901952"/>
            <a:ext cx="7320915" cy="3904488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393192" y="5925312"/>
            <a:ext cx="8302752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600" lang="en-US">
                <a:solidFill>
                  <a:srgbClr val="20252B"/>
                </a:solidFill>
                <a:latin typeface="Arial"/>
              </a:rPr>
              <a:t>Rounded published hit rates refer to compounds actually tested.</a:t>
            </a:r>
          </a:p>
        </p:txBody>
      </p:sp>
      <p:sp>
        <p:nvSpPr>
          <p:cNvPr id="6" name="reference"/>
          <p:cNvSpPr txBox="1"/>
          <p:nvPr/>
        </p:nvSpPr>
        <p:spPr>
          <a:xfrm>
            <a:off x="393192" y="6455664"/>
            <a:ext cx="798271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200" lang="en-US">
                <a:solidFill>
                  <a:srgbClr val="20252B"/>
                </a:solidFill>
                <a:latin typeface="Arial"/>
              </a:rPr>
              <a:t>Lyu et al., Science 384, eadn6354 (2024).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8458200" y="6510528"/>
            <a:ext cx="329184" cy="210312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0252B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47472" y="210312"/>
            <a:ext cx="844905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2400" lang="en-US" b="1">
                <a:solidFill>
                  <a:srgbClr val="C00000"/>
                </a:solidFill>
                <a:latin typeface="Arial"/>
              </a:rPr>
              <a:t>Case 4: Use Chemical Clues to Select Antibiotics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393192" y="914400"/>
            <a:ext cx="8339328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Models learned from antibacterial activity and human-cell toxicity.</a:t>
            </a:r>
          </a:p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Highlighted substructures helped guide prospective compound selection.</a:t>
            </a:r>
          </a:p>
        </p:txBody>
      </p:sp>
      <p:pic>
        <p:nvPicPr>
          <p:cNvPr id="4" name="FIGURE:wong_fig3" descr="wong_fi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" y="2120762"/>
            <a:ext cx="8339328" cy="3466868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393192" y="5925312"/>
            <a:ext cx="8302752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600" lang="en-US">
                <a:solidFill>
                  <a:srgbClr val="20252B"/>
                </a:solidFill>
                <a:latin typeface="Arial"/>
              </a:rPr>
              <a:t>Published chemical rationales and candidate scaffolds.</a:t>
            </a:r>
          </a:p>
        </p:txBody>
      </p:sp>
      <p:sp>
        <p:nvSpPr>
          <p:cNvPr id="6" name="reference"/>
          <p:cNvSpPr txBox="1"/>
          <p:nvPr/>
        </p:nvSpPr>
        <p:spPr>
          <a:xfrm>
            <a:off x="393192" y="6455664"/>
            <a:ext cx="798271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200" lang="en-US">
                <a:solidFill>
                  <a:srgbClr val="20252B"/>
                </a:solidFill>
                <a:latin typeface="Arial"/>
              </a:rPr>
              <a:t>Wong et al., Nature 626, 177–185 (2024).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8458200" y="6510528"/>
            <a:ext cx="329184" cy="210312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0252B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47472" y="210312"/>
            <a:ext cx="844905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2400" lang="en-US" b="1">
                <a:solidFill>
                  <a:srgbClr val="C00000"/>
                </a:solidFill>
                <a:latin typeface="Arial"/>
              </a:rPr>
              <a:t>Case 4: Laboratory Evidence Goes Beyond a Score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393192" y="914400"/>
            <a:ext cx="8339328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The study experimentally tested 283 selected compounds.</a:t>
            </a:r>
          </a:p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A discovered chemical class received mechanistic and mouse-infection studies.</a:t>
            </a:r>
          </a:p>
        </p:txBody>
      </p:sp>
      <p:pic>
        <p:nvPicPr>
          <p:cNvPr id="4" name="FIGURE:wong_fig5" descr="wong_fi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0516" y="1901952"/>
            <a:ext cx="3322969" cy="3904488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393192" y="5925312"/>
            <a:ext cx="8302752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600" lang="en-US">
                <a:solidFill>
                  <a:srgbClr val="20252B"/>
                </a:solidFill>
                <a:latin typeface="Arial"/>
              </a:rPr>
              <a:t>Published preclinical efficacy evidence; not a human clinical result.</a:t>
            </a:r>
          </a:p>
        </p:txBody>
      </p:sp>
      <p:sp>
        <p:nvSpPr>
          <p:cNvPr id="6" name="reference"/>
          <p:cNvSpPr txBox="1"/>
          <p:nvPr/>
        </p:nvSpPr>
        <p:spPr>
          <a:xfrm>
            <a:off x="393192" y="6455664"/>
            <a:ext cx="798271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200" lang="en-US">
                <a:solidFill>
                  <a:srgbClr val="20252B"/>
                </a:solidFill>
                <a:latin typeface="Arial"/>
              </a:rPr>
              <a:t>Wong et al., Nature 626, 177–185 (2024).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8458200" y="6510528"/>
            <a:ext cx="329184" cy="210312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0252B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47472" y="210312"/>
            <a:ext cx="844905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2400" lang="en-US" b="1">
                <a:solidFill>
                  <a:srgbClr val="C00000"/>
                </a:solidFill>
                <a:latin typeface="Arial"/>
              </a:rPr>
              <a:t>Inspect Chemical Validity Before Trusting a Pose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393192" y="914400"/>
            <a:ext cx="8339328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Check stereochemistry, bond geometry and impossible atomic overlaps.</a:t>
            </a:r>
          </a:p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High confidence does not replace those chemical checks.</a:t>
            </a:r>
          </a:p>
        </p:txBody>
      </p:sp>
      <p:pic>
        <p:nvPicPr>
          <p:cNvPr id="4" name="FIGURE:chemical_checks" descr="chemical_che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542" y="1901952"/>
            <a:ext cx="7320915" cy="3904488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393192" y="5925312"/>
            <a:ext cx="8302752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600" lang="en-US">
                <a:solidFill>
                  <a:srgbClr val="20252B"/>
                </a:solidFill>
                <a:latin typeface="Arial"/>
              </a:rPr>
              <a:t>Illustrative invalid-versus-valid input checks; not results from a named model.</a:t>
            </a:r>
          </a:p>
        </p:txBody>
      </p:sp>
      <p:sp>
        <p:nvSpPr>
          <p:cNvPr id="6" name="reference"/>
          <p:cNvSpPr txBox="1"/>
          <p:nvPr/>
        </p:nvSpPr>
        <p:spPr>
          <a:xfrm>
            <a:off x="393192" y="6455664"/>
            <a:ext cx="798271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200" lang="en-US">
                <a:solidFill>
                  <a:srgbClr val="20252B"/>
                </a:solidFill>
                <a:latin typeface="Arial"/>
              </a:rPr>
              <a:t>Buttenschoen et al., Chem. Sci. 15, 3130–3139 (2024).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8458200" y="6510528"/>
            <a:ext cx="329184" cy="210312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0252B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47472" y="210312"/>
            <a:ext cx="844905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2400" lang="en-US" b="1">
                <a:solidFill>
                  <a:srgbClr val="C00000"/>
                </a:solidFill>
                <a:latin typeface="Arial"/>
              </a:rPr>
              <a:t>Measure Whether AI Improved the Decision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393192" y="914400"/>
            <a:ext cx="8339328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Count useful hits among compounds actually tested.</a:t>
            </a:r>
          </a:p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Compare with a sensible alternative under comparable conditions.</a:t>
            </a:r>
          </a:p>
        </p:txBody>
      </p:sp>
      <p:pic>
        <p:nvPicPr>
          <p:cNvPr id="4" name="FIGURE:hit_comparison" descr="hi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542" y="1901952"/>
            <a:ext cx="7320915" cy="3904488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393192" y="5925312"/>
            <a:ext cx="8302752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600" lang="en-US">
                <a:solidFill>
                  <a:srgbClr val="20252B"/>
                </a:solidFill>
                <a:latin typeface="Arial"/>
              </a:rPr>
              <a:t>Hypothetical example: twenty experimentally tested compounds per group.</a:t>
            </a:r>
          </a:p>
        </p:txBody>
      </p:sp>
      <p:sp>
        <p:nvSpPr>
          <p:cNvPr id="6" name="reference"/>
          <p:cNvSpPr txBox="1"/>
          <p:nvPr/>
        </p:nvSpPr>
        <p:spPr>
          <a:xfrm>
            <a:off x="393192" y="6455664"/>
            <a:ext cx="798271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200" lang="en-US">
                <a:solidFill>
                  <a:srgbClr val="20252B"/>
                </a:solidFill>
                <a:latin typeface="Arial"/>
              </a:rPr>
              <a:t>Teaching comparison; no claimed performance for a named model.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8458200" y="6510528"/>
            <a:ext cx="329184" cy="210312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0252B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47472" y="210312"/>
            <a:ext cx="844905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2400" lang="en-US" b="1">
                <a:solidFill>
                  <a:srgbClr val="C00000"/>
                </a:solidFill>
                <a:latin typeface="Arial"/>
              </a:rPr>
              <a:t>Exercise: Choose the Next EGFR Experiment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393192" y="914400"/>
            <a:ext cx="8339328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You have an EGFR structure and a shortlist of candidate inhibitors.</a:t>
            </a:r>
          </a:p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Which tool addresses the pose—and which assay addresses inhibition?</a:t>
            </a:r>
          </a:p>
        </p:txBody>
      </p:sp>
      <p:pic>
        <p:nvPicPr>
          <p:cNvPr id="4" name="FIGURE:egfr_lapatinib" descr="egfr_lapatinib.png"/>
          <p:cNvPicPr>
            <a:picLocks noChangeAspect="1"/>
          </p:cNvPicPr>
          <p:nvPr/>
        </p:nvPicPr>
        <p:blipFill>
          <a:blip r:embed="rId2"/>
          <a:srcRect l="6167" t="0" r="17333" b="0"/>
          <a:stretch>
            <a:fillRect/>
          </a:stretch>
        </p:blipFill>
        <p:spPr>
          <a:xfrm>
            <a:off x="2182453" y="1901952"/>
            <a:ext cx="4779093" cy="3904488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393192" y="5925312"/>
            <a:ext cx="8302752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600" lang="en-US">
                <a:solidFill>
                  <a:srgbClr val="20252B"/>
                </a:solidFill>
                <a:latin typeface="Arial"/>
              </a:rPr>
              <a:t>Experimental lapatinib–EGFR complex, PDB 1XKK, as the exercise reference.</a:t>
            </a:r>
          </a:p>
        </p:txBody>
      </p:sp>
      <p:sp>
        <p:nvSpPr>
          <p:cNvPr id="6" name="reference"/>
          <p:cNvSpPr txBox="1"/>
          <p:nvPr/>
        </p:nvSpPr>
        <p:spPr>
          <a:xfrm>
            <a:off x="393192" y="6455664"/>
            <a:ext cx="798271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200" lang="en-US">
                <a:solidFill>
                  <a:srgbClr val="20252B"/>
                </a:solidFill>
                <a:latin typeface="Arial"/>
              </a:rPr>
              <a:t>Wood et al., Cancer Res. 64, 6652–6659 (2004); PDB 1XKK.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8458200" y="6510528"/>
            <a:ext cx="329184" cy="210312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0252B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47472" y="210312"/>
            <a:ext cx="844905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2400" lang="en-US" b="1">
                <a:solidFill>
                  <a:srgbClr val="C00000"/>
                </a:solidFill>
                <a:latin typeface="Arial"/>
              </a:rPr>
              <a:t>Exercise: What Did an RNA Binding Screen Prove?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393192" y="914400"/>
            <a:ext cx="8339328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SMRTnet nominated interactions across ten disease-associated RNA targets.</a:t>
            </a:r>
          </a:p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What additional evidence is needed to connect binding to a cellular effect?</a:t>
            </a:r>
          </a:p>
        </p:txBody>
      </p:sp>
      <p:pic>
        <p:nvPicPr>
          <p:cNvPr id="4" name="FIGURE:rna_validation" descr="rna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542" y="1901952"/>
            <a:ext cx="7320915" cy="3904488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393192" y="5925312"/>
            <a:ext cx="8302752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600" lang="en-US">
                <a:solidFill>
                  <a:srgbClr val="20252B"/>
                </a:solidFill>
                <a:latin typeface="Arial"/>
              </a:rPr>
              <a:t>Published counts: 190 predicted interactions tested; 40 confirmed by MST.</a:t>
            </a:r>
          </a:p>
        </p:txBody>
      </p:sp>
      <p:sp>
        <p:nvSpPr>
          <p:cNvPr id="6" name="reference"/>
          <p:cNvSpPr txBox="1"/>
          <p:nvPr/>
        </p:nvSpPr>
        <p:spPr>
          <a:xfrm>
            <a:off x="393192" y="6455664"/>
            <a:ext cx="798271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200" lang="en-US">
                <a:solidFill>
                  <a:srgbClr val="20252B"/>
                </a:solidFill>
                <a:latin typeface="Arial"/>
              </a:rPr>
              <a:t>Fei et al., Nat. Biotechnol. (2026), doi:10.1038/s41587-025-02942-z.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8458200" y="6510528"/>
            <a:ext cx="329184" cy="210312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0252B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47472" y="210312"/>
            <a:ext cx="844905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2400" lang="en-US" b="1">
                <a:solidFill>
                  <a:srgbClr val="C00000"/>
                </a:solidFill>
                <a:latin typeface="Arial"/>
              </a:rPr>
              <a:t>From Target Knowledge to Better PD Decisions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384048" y="914400"/>
            <a:ext cx="8339327" cy="8412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Define the target interaction or biological effect.</a:t>
            </a:r>
          </a:p>
          <a:p>
            <a:pPr marL="205740" indent="-171450">
              <a:lnSpc>
                <a:spcPct val="130000"/>
              </a:lnSpc>
              <a:spcAft>
                <a:spcPts val="350"/>
              </a:spcAft>
              <a:buChar char="•"/>
            </a:pPr>
            <a:r>
              <a:rPr sz="1800" lang="en-US">
                <a:solidFill>
                  <a:srgbClr val="20252B"/>
                </a:solidFill>
                <a:latin typeface="Arial"/>
              </a:rPr>
              <a:t>Choose a suitable AI tool, inspect the chemistry and test the claim.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3017520" cy="1005840"/>
          </a:xfrm>
          <a:prstGeom prst="roundRect">
            <a:avLst/>
          </a:prstGeom>
          <a:solidFill>
            <a:srgbClr val="E5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"/>
          <p:cNvSpPr txBox="1"/>
          <p:nvPr/>
        </p:nvSpPr>
        <p:spPr>
          <a:xfrm>
            <a:off x="713231" y="1828800"/>
            <a:ext cx="2871215" cy="859536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800" b="0">
                <a:solidFill>
                  <a:srgbClr val="20252B"/>
                </a:solidFill>
                <a:latin typeface="Arial"/>
              </a:rPr>
              <a:t>A specific PD question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3977639" y="1911095"/>
            <a:ext cx="4480560" cy="795528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900" b="0">
                <a:solidFill>
                  <a:srgbClr val="20252B"/>
                </a:solidFill>
                <a:latin typeface="Arial"/>
              </a:rPr>
              <a:t>Target • pocket • binding • function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108960"/>
            <a:ext cx="3017520" cy="1005840"/>
          </a:xfrm>
          <a:prstGeom prst="roundRect">
            <a:avLst/>
          </a:prstGeom>
          <a:solidFill>
            <a:srgbClr val="E5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"/>
          <p:cNvSpPr txBox="1"/>
          <p:nvPr/>
        </p:nvSpPr>
        <p:spPr>
          <a:xfrm>
            <a:off x="713231" y="3200400"/>
            <a:ext cx="2871215" cy="859536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800" b="0">
                <a:solidFill>
                  <a:srgbClr val="20252B"/>
                </a:solidFill>
                <a:latin typeface="Arial"/>
              </a:rPr>
              <a:t>An appropriate AI output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3977639" y="3282696"/>
            <a:ext cx="4480560" cy="795528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900" b="0">
                <a:solidFill>
                  <a:srgbClr val="20252B"/>
                </a:solidFill>
                <a:latin typeface="Arial"/>
              </a:rPr>
              <a:t>Structure • ranked candidates • chemical proposals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480560"/>
            <a:ext cx="3017520" cy="1005840"/>
          </a:xfrm>
          <a:prstGeom prst="roundRect">
            <a:avLst/>
          </a:prstGeom>
          <a:solidFill>
            <a:srgbClr val="E5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"/>
          <p:cNvSpPr txBox="1"/>
          <p:nvPr/>
        </p:nvSpPr>
        <p:spPr>
          <a:xfrm>
            <a:off x="713231" y="4572000"/>
            <a:ext cx="2871215" cy="859536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800" b="0">
                <a:solidFill>
                  <a:srgbClr val="20252B"/>
                </a:solidFill>
                <a:latin typeface="Arial"/>
              </a:rPr>
              <a:t>A matching experiment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3977639" y="4654296"/>
            <a:ext cx="4480560" cy="795528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900" b="0">
                <a:solidFill>
                  <a:srgbClr val="20252B"/>
                </a:solidFill>
                <a:latin typeface="Arial"/>
              </a:rPr>
              <a:t>Binding test • functional assay • causal follow-up</a:t>
            </a:r>
          </a:p>
        </p:txBody>
      </p:sp>
      <p:sp>
        <p:nvSpPr>
          <p:cNvPr id="13" name="caption"/>
          <p:cNvSpPr txBox="1"/>
          <p:nvPr/>
        </p:nvSpPr>
        <p:spPr>
          <a:xfrm>
            <a:off x="393192" y="5925312"/>
            <a:ext cx="8302752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600" lang="en-US">
                <a:solidFill>
                  <a:srgbClr val="20252B"/>
                </a:solidFill>
                <a:latin typeface="Arial"/>
              </a:rPr>
              <a:t>Chemical knowledge makes AI predictions useful—not automatically true.</a:t>
            </a:r>
          </a:p>
        </p:txBody>
      </p:sp>
      <p:sp>
        <p:nvSpPr>
          <p:cNvPr id="14" name="reference"/>
          <p:cNvSpPr txBox="1"/>
          <p:nvPr/>
        </p:nvSpPr>
        <p:spPr>
          <a:xfrm>
            <a:off x="393192" y="6455664"/>
            <a:ext cx="798271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200" lang="en-US">
                <a:solidFill>
                  <a:srgbClr val="20252B"/>
                </a:solidFill>
                <a:latin typeface="Arial"/>
              </a:rPr>
              <a:t>Summary of the cited research examples.</a:t>
            </a:r>
          </a:p>
        </p:txBody>
      </p:sp>
      <p:sp>
        <p:nvSpPr>
          <p:cNvPr id="15" name="page_number"/>
          <p:cNvSpPr txBox="1"/>
          <p:nvPr/>
        </p:nvSpPr>
        <p:spPr>
          <a:xfrm>
            <a:off x="8458200" y="6510528"/>
            <a:ext cx="329184" cy="210312"/>
          </a:xfrm>
          <a:prstGeom prst="rect">
            <a:avLst/>
          </a:prstGeom>
          <a:noFill/>
        </p:spPr>
        <p:txBody>
          <a:bodyPr wrap="square" lIns="13716" rIns="13716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0252B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 Pharmacodynamics — revised teaching slides 7–46</dc:title>
  <dc:subject>Undergraduate chemistry; application-led; unique scientific figures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